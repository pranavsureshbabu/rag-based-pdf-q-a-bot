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
      <p:font typeface="Int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074D12-F9B7-4AF1-B681-1B299ED95063}">
  <a:tblStyle styleId="{66074D12-F9B7-4AF1-B681-1B299ED9506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regular.fntdata"/><Relationship Id="rId16" Type="http://schemas.openxmlformats.org/officeDocument/2006/relationships/slide" Target="slides/slide10.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301541e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7301541e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Links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301541e4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7301541e4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301541e4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7301541e4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301541e4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7301541e4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301541e4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301541e4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301541e4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7301541e4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301541e4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7301541e4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7b5516e1ea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7b5516e1e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301541e4b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7301541e4b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jp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nvSpPr>
        <p:spPr>
          <a:xfrm>
            <a:off x="354375" y="2152575"/>
            <a:ext cx="8334600" cy="1920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2400"/>
              </a:spcBef>
              <a:spcAft>
                <a:spcPts val="0"/>
              </a:spcAft>
              <a:buNone/>
            </a:pPr>
            <a:r>
              <a:rPr b="1" lang="en" sz="2300">
                <a:solidFill>
                  <a:schemeClr val="dk2"/>
                </a:solidFill>
                <a:latin typeface="Inter"/>
                <a:ea typeface="Inter"/>
                <a:cs typeface="Inter"/>
                <a:sym typeface="Inter"/>
              </a:rPr>
              <a:t>AI-Powered Document Insights and Data Extraction </a:t>
            </a:r>
            <a:endParaRPr sz="3800">
              <a:solidFill>
                <a:schemeClr val="dk2"/>
              </a:solidFill>
              <a:latin typeface="Inter"/>
              <a:ea typeface="Inter"/>
              <a:cs typeface="Inter"/>
              <a:sym typeface="Inter"/>
            </a:endParaRPr>
          </a:p>
          <a:p>
            <a:pPr indent="0" lvl="0" marL="0" rtl="0" algn="l">
              <a:lnSpc>
                <a:spcPct val="90000"/>
              </a:lnSpc>
              <a:spcBef>
                <a:spcPts val="600"/>
              </a:spcBef>
              <a:spcAft>
                <a:spcPts val="0"/>
              </a:spcAft>
              <a:buNone/>
            </a:pPr>
            <a:r>
              <a:t/>
            </a:r>
            <a:endParaRPr sz="2200">
              <a:solidFill>
                <a:schemeClr val="dk2"/>
              </a:solidFill>
              <a:latin typeface="Trebuchet MS"/>
              <a:ea typeface="Trebuchet MS"/>
              <a:cs typeface="Trebuchet MS"/>
              <a:sym typeface="Trebuchet MS"/>
            </a:endParaRPr>
          </a:p>
          <a:p>
            <a:pPr indent="0" lvl="0" marL="0" rtl="0" algn="l">
              <a:lnSpc>
                <a:spcPct val="90000"/>
              </a:lnSpc>
              <a:spcBef>
                <a:spcPts val="0"/>
              </a:spcBef>
              <a:spcAft>
                <a:spcPts val="0"/>
              </a:spcAft>
              <a:buNone/>
            </a:pPr>
            <a:r>
              <a:rPr lang="en" sz="1700">
                <a:solidFill>
                  <a:schemeClr val="dk2"/>
                </a:solidFill>
                <a:latin typeface="Inter"/>
                <a:ea typeface="Inter"/>
                <a:cs typeface="Inter"/>
                <a:sym typeface="Inter"/>
              </a:rPr>
              <a:t>Name:[Pranav Suresh Babu]</a:t>
            </a:r>
            <a:br>
              <a:rPr lang="en" sz="1700">
                <a:solidFill>
                  <a:schemeClr val="dk2"/>
                </a:solidFill>
                <a:latin typeface="Inter"/>
                <a:ea typeface="Inter"/>
                <a:cs typeface="Inter"/>
                <a:sym typeface="Inter"/>
              </a:rPr>
            </a:br>
            <a:r>
              <a:rPr lang="en" sz="1700">
                <a:solidFill>
                  <a:schemeClr val="dk2"/>
                </a:solidFill>
                <a:latin typeface="Inter"/>
                <a:ea typeface="Inter"/>
                <a:cs typeface="Inter"/>
                <a:sym typeface="Inter"/>
              </a:rPr>
              <a:t>Extern ID: []</a:t>
            </a:r>
            <a:br>
              <a:rPr lang="en" sz="1700">
                <a:solidFill>
                  <a:schemeClr val="dk2"/>
                </a:solidFill>
                <a:latin typeface="Inter"/>
                <a:ea typeface="Inter"/>
                <a:cs typeface="Inter"/>
                <a:sym typeface="Inter"/>
              </a:rPr>
            </a:br>
            <a:r>
              <a:rPr lang="en" sz="1700">
                <a:solidFill>
                  <a:schemeClr val="dk2"/>
                </a:solidFill>
                <a:latin typeface="Inter"/>
                <a:ea typeface="Inter"/>
                <a:cs typeface="Inter"/>
                <a:sym typeface="Inter"/>
              </a:rPr>
              <a:t>Email:</a:t>
            </a:r>
            <a:r>
              <a:rPr lang="en" sz="1700">
                <a:solidFill>
                  <a:schemeClr val="dk2"/>
                </a:solidFill>
                <a:latin typeface="Inter"/>
                <a:ea typeface="Inter"/>
                <a:cs typeface="Inter"/>
                <a:sym typeface="Inter"/>
              </a:rPr>
              <a:t> [pranavsuresh450@gmail.com]</a:t>
            </a:r>
            <a:endParaRPr sz="1700">
              <a:solidFill>
                <a:schemeClr val="dk2"/>
              </a:solidFill>
              <a:latin typeface="Inter"/>
              <a:ea typeface="Inter"/>
              <a:cs typeface="Inter"/>
              <a:sym typeface="Inter"/>
            </a:endParaRPr>
          </a:p>
          <a:p>
            <a:pPr indent="0" lvl="0" marL="0" rtl="0" algn="l">
              <a:lnSpc>
                <a:spcPct val="90000"/>
              </a:lnSpc>
              <a:spcBef>
                <a:spcPts val="0"/>
              </a:spcBef>
              <a:spcAft>
                <a:spcPts val="0"/>
              </a:spcAft>
              <a:buNone/>
            </a:pPr>
            <a:r>
              <a:rPr lang="en" sz="3800">
                <a:solidFill>
                  <a:srgbClr val="FFFFFF"/>
                </a:solidFill>
                <a:latin typeface="Inter"/>
                <a:ea typeface="Inter"/>
                <a:cs typeface="Inter"/>
                <a:sym typeface="Inter"/>
              </a:rPr>
              <a:t> </a:t>
            </a:r>
            <a:endParaRPr sz="3800">
              <a:solidFill>
                <a:srgbClr val="FFFFFF"/>
              </a:solidFill>
              <a:latin typeface="Inter"/>
              <a:ea typeface="Inter"/>
              <a:cs typeface="Inter"/>
              <a:sym typeface="Inter"/>
            </a:endParaRPr>
          </a:p>
          <a:p>
            <a:pPr indent="0" lvl="0" marL="0" rtl="0" algn="l">
              <a:lnSpc>
                <a:spcPct val="90000"/>
              </a:lnSpc>
              <a:spcBef>
                <a:spcPts val="0"/>
              </a:spcBef>
              <a:spcAft>
                <a:spcPts val="0"/>
              </a:spcAft>
              <a:buNone/>
            </a:pPr>
            <a:r>
              <a:t/>
            </a:r>
            <a:endParaRPr sz="3800">
              <a:solidFill>
                <a:srgbClr val="FFFFFF"/>
              </a:solidFill>
              <a:latin typeface="Trebuchet MS"/>
              <a:ea typeface="Trebuchet MS"/>
              <a:cs typeface="Trebuchet MS"/>
              <a:sym typeface="Trebuchet MS"/>
            </a:endParaRPr>
          </a:p>
        </p:txBody>
      </p:sp>
      <p:cxnSp>
        <p:nvCxnSpPr>
          <p:cNvPr id="87" name="Google Shape;87;p13"/>
          <p:cNvCxnSpPr/>
          <p:nvPr/>
        </p:nvCxnSpPr>
        <p:spPr>
          <a:xfrm>
            <a:off x="337650" y="2776875"/>
            <a:ext cx="8300400" cy="303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nvSpPr>
        <p:spPr>
          <a:xfrm>
            <a:off x="495000" y="117475"/>
            <a:ext cx="8546400" cy="112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600">
                <a:solidFill>
                  <a:schemeClr val="dk2"/>
                </a:solidFill>
                <a:latin typeface="Inter"/>
                <a:ea typeface="Inter"/>
                <a:cs typeface="Inter"/>
                <a:sym typeface="Inter"/>
              </a:rPr>
              <a:t>Problem Statement | [Document Intelligence for Mortgage Processing]</a:t>
            </a:r>
            <a:endParaRPr sz="1600">
              <a:solidFill>
                <a:schemeClr val="dk2"/>
              </a:solidFill>
              <a:latin typeface="Inter"/>
              <a:ea typeface="Inter"/>
              <a:cs typeface="Inter"/>
              <a:sym typeface="Inter"/>
            </a:endParaRPr>
          </a:p>
          <a:p>
            <a:pPr indent="0" lvl="0" marL="0" rtl="0" algn="l">
              <a:lnSpc>
                <a:spcPct val="90000"/>
              </a:lnSpc>
              <a:spcBef>
                <a:spcPts val="0"/>
              </a:spcBef>
              <a:spcAft>
                <a:spcPts val="0"/>
              </a:spcAft>
              <a:buNone/>
            </a:pPr>
            <a:r>
              <a:rPr lang="en">
                <a:solidFill>
                  <a:schemeClr val="dk2"/>
                </a:solidFill>
                <a:latin typeface="Inter"/>
                <a:ea typeface="Inter"/>
                <a:cs typeface="Inter"/>
                <a:sym typeface="Inter"/>
              </a:rPr>
              <a:t>Mortgage companies process thousands of documents bank statements, W-2s, pay stubs, appraisal reports, disclosures each containing critical borrower information. Manual review is slow, error-prone, and difficult to scale</a:t>
            </a:r>
            <a:endParaRPr>
              <a:solidFill>
                <a:schemeClr val="dk2"/>
              </a:solidFill>
              <a:latin typeface="Inter"/>
              <a:ea typeface="Inter"/>
              <a:cs typeface="Inter"/>
              <a:sym typeface="Inter"/>
            </a:endParaRPr>
          </a:p>
          <a:p>
            <a:pPr indent="0" lvl="0" marL="0" rtl="0" algn="l">
              <a:lnSpc>
                <a:spcPct val="115000"/>
              </a:lnSpc>
              <a:spcBef>
                <a:spcPts val="1200"/>
              </a:spcBef>
              <a:spcAft>
                <a:spcPts val="1200"/>
              </a:spcAft>
              <a:buNone/>
            </a:pPr>
            <a:r>
              <a:t/>
            </a:r>
            <a:endParaRPr i="1" sz="1100"/>
          </a:p>
        </p:txBody>
      </p:sp>
      <p:sp>
        <p:nvSpPr>
          <p:cNvPr id="93" name="Google Shape;93;p14"/>
          <p:cNvSpPr txBox="1"/>
          <p:nvPr/>
        </p:nvSpPr>
        <p:spPr>
          <a:xfrm>
            <a:off x="522502" y="2451073"/>
            <a:ext cx="708000" cy="238500"/>
          </a:xfrm>
          <a:prstGeom prst="rect">
            <a:avLst/>
          </a:prstGeom>
          <a:noFill/>
          <a:ln>
            <a:noFill/>
          </a:ln>
        </p:spPr>
        <p:txBody>
          <a:bodyPr anchorCtr="0" anchor="t" bIns="34275" lIns="0" spcFirstLastPara="1" rIns="0" wrap="square" tIns="34275">
            <a:spAutoFit/>
          </a:bodyPr>
          <a:lstStyle/>
          <a:p>
            <a:pPr indent="0" lvl="1" marL="0" marR="0" rtl="0" algn="l">
              <a:spcBef>
                <a:spcPts val="0"/>
              </a:spcBef>
              <a:spcAft>
                <a:spcPts val="0"/>
              </a:spcAft>
              <a:buNone/>
            </a:pPr>
            <a:r>
              <a:rPr lang="en" sz="1100">
                <a:solidFill>
                  <a:srgbClr val="E71B56"/>
                </a:solidFill>
                <a:latin typeface="Inter"/>
                <a:ea typeface="Inter"/>
                <a:cs typeface="Inter"/>
                <a:sym typeface="Inter"/>
              </a:rPr>
              <a:t>Challenge</a:t>
            </a:r>
            <a:endParaRPr i="0" sz="1100" u="none" cap="none" strike="noStrike">
              <a:solidFill>
                <a:srgbClr val="E71B56"/>
              </a:solidFill>
              <a:latin typeface="Inter"/>
              <a:ea typeface="Inter"/>
              <a:cs typeface="Inter"/>
              <a:sym typeface="Inter"/>
            </a:endParaRPr>
          </a:p>
        </p:txBody>
      </p:sp>
      <p:cxnSp>
        <p:nvCxnSpPr>
          <p:cNvPr id="94" name="Google Shape;94;p14"/>
          <p:cNvCxnSpPr/>
          <p:nvPr/>
        </p:nvCxnSpPr>
        <p:spPr>
          <a:xfrm flipH="1">
            <a:off x="1395250" y="1187400"/>
            <a:ext cx="27900" cy="3729300"/>
          </a:xfrm>
          <a:prstGeom prst="straightConnector1">
            <a:avLst/>
          </a:prstGeom>
          <a:noFill/>
          <a:ln cap="flat" cmpd="sng" w="19050">
            <a:solidFill>
              <a:srgbClr val="9A9A9A"/>
            </a:solidFill>
            <a:prstDash val="dot"/>
            <a:round/>
            <a:headEnd len="sm" w="sm" type="none"/>
            <a:tailEnd len="sm" w="sm" type="none"/>
          </a:ln>
        </p:spPr>
      </p:cxnSp>
      <p:sp>
        <p:nvSpPr>
          <p:cNvPr id="95" name="Google Shape;95;p14"/>
          <p:cNvSpPr txBox="1"/>
          <p:nvPr/>
        </p:nvSpPr>
        <p:spPr>
          <a:xfrm>
            <a:off x="471489" y="3771750"/>
            <a:ext cx="810000" cy="238500"/>
          </a:xfrm>
          <a:prstGeom prst="rect">
            <a:avLst/>
          </a:prstGeom>
          <a:noFill/>
          <a:ln>
            <a:noFill/>
          </a:ln>
        </p:spPr>
        <p:txBody>
          <a:bodyPr anchorCtr="0" anchor="t" bIns="34275" lIns="0" spcFirstLastPara="1" rIns="0" wrap="square" tIns="34275">
            <a:spAutoFit/>
          </a:bodyPr>
          <a:lstStyle/>
          <a:p>
            <a:pPr indent="0" lvl="1" marL="0" marR="0" rtl="0" algn="ctr">
              <a:spcBef>
                <a:spcPts val="0"/>
              </a:spcBef>
              <a:spcAft>
                <a:spcPts val="0"/>
              </a:spcAft>
              <a:buNone/>
            </a:pPr>
            <a:r>
              <a:rPr lang="en" sz="1100">
                <a:solidFill>
                  <a:srgbClr val="E71B56"/>
                </a:solidFill>
                <a:latin typeface="Inter"/>
                <a:ea typeface="Inter"/>
                <a:cs typeface="Inter"/>
                <a:sym typeface="Inter"/>
              </a:rPr>
              <a:t>Solution</a:t>
            </a:r>
            <a:endParaRPr i="0" sz="1100" u="none" cap="none" strike="noStrike">
              <a:solidFill>
                <a:srgbClr val="E71B56"/>
              </a:solidFill>
              <a:latin typeface="Inter"/>
              <a:ea typeface="Inter"/>
              <a:cs typeface="Inter"/>
              <a:sym typeface="Inter"/>
            </a:endParaRPr>
          </a:p>
        </p:txBody>
      </p:sp>
      <p:sp>
        <p:nvSpPr>
          <p:cNvPr id="96" name="Google Shape;96;p14"/>
          <p:cNvSpPr txBox="1"/>
          <p:nvPr/>
        </p:nvSpPr>
        <p:spPr>
          <a:xfrm>
            <a:off x="1538700" y="1244275"/>
            <a:ext cx="2787000" cy="104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000">
                <a:solidFill>
                  <a:schemeClr val="dk2"/>
                </a:solidFill>
              </a:rPr>
              <a:t>[“Building a system that accurately extracts, chunks, organizes, and retrieves information from long, noisy mortgage documents while maintaining reliability across diverse formats is a significant technical challenge."]</a:t>
            </a:r>
            <a:endParaRPr sz="1000">
              <a:solidFill>
                <a:schemeClr val="dk2"/>
              </a:solidFill>
              <a:latin typeface="Trebuchet MS"/>
              <a:ea typeface="Trebuchet MS"/>
              <a:cs typeface="Trebuchet MS"/>
              <a:sym typeface="Trebuchet MS"/>
            </a:endParaRPr>
          </a:p>
        </p:txBody>
      </p:sp>
      <p:cxnSp>
        <p:nvCxnSpPr>
          <p:cNvPr id="97" name="Google Shape;97;p14"/>
          <p:cNvCxnSpPr/>
          <p:nvPr/>
        </p:nvCxnSpPr>
        <p:spPr>
          <a:xfrm>
            <a:off x="551674" y="2842247"/>
            <a:ext cx="3719400" cy="0"/>
          </a:xfrm>
          <a:prstGeom prst="straightConnector1">
            <a:avLst/>
          </a:prstGeom>
          <a:noFill/>
          <a:ln cap="flat" cmpd="sng" w="9525">
            <a:solidFill>
              <a:srgbClr val="9A9A9A"/>
            </a:solidFill>
            <a:prstDash val="dot"/>
            <a:round/>
            <a:headEnd len="sm" w="sm" type="none"/>
            <a:tailEnd len="sm" w="sm" type="none"/>
          </a:ln>
        </p:spPr>
      </p:cxnSp>
      <p:sp>
        <p:nvSpPr>
          <p:cNvPr id="98" name="Google Shape;98;p14"/>
          <p:cNvSpPr txBox="1"/>
          <p:nvPr/>
        </p:nvSpPr>
        <p:spPr>
          <a:xfrm>
            <a:off x="1507425" y="2879125"/>
            <a:ext cx="2787000" cy="193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000">
                <a:solidFill>
                  <a:schemeClr val="dk2"/>
                </a:solidFill>
                <a:latin typeface="Inter"/>
                <a:ea typeface="Inter"/>
                <a:cs typeface="Inter"/>
                <a:sym typeface="Inter"/>
              </a:rPr>
              <a:t>[The pipeline uses OCR to convert scanned documents into machine-readable text, followed by intelligent chunking and metadata tagging. A vector database stores embeddings for efficient retrieval, and an LLM generates precise answers or summaries based on user queries. This end-to-end RAG framework delivers fast, accurate, and scalable document insights for mortgage processing</a:t>
            </a:r>
            <a:endParaRPr sz="1000">
              <a:solidFill>
                <a:schemeClr val="dk2"/>
              </a:solidFill>
              <a:latin typeface="Inter"/>
              <a:ea typeface="Inter"/>
              <a:cs typeface="Inter"/>
              <a:sym typeface="Inter"/>
            </a:endParaRPr>
          </a:p>
        </p:txBody>
      </p:sp>
      <p:grpSp>
        <p:nvGrpSpPr>
          <p:cNvPr id="99" name="Google Shape;99;p14"/>
          <p:cNvGrpSpPr/>
          <p:nvPr/>
        </p:nvGrpSpPr>
        <p:grpSpPr>
          <a:xfrm>
            <a:off x="4520430" y="1453962"/>
            <a:ext cx="275064" cy="3477603"/>
            <a:chOff x="5942914" y="2299356"/>
            <a:chExt cx="306171" cy="3861000"/>
          </a:xfrm>
        </p:grpSpPr>
        <p:cxnSp>
          <p:nvCxnSpPr>
            <p:cNvPr id="100" name="Google Shape;100;p14"/>
            <p:cNvCxnSpPr/>
            <p:nvPr/>
          </p:nvCxnSpPr>
          <p:spPr>
            <a:xfrm>
              <a:off x="6095998" y="2299356"/>
              <a:ext cx="0" cy="3861000"/>
            </a:xfrm>
            <a:prstGeom prst="straightConnector1">
              <a:avLst/>
            </a:prstGeom>
            <a:noFill/>
            <a:ln cap="rnd" cmpd="sng" w="9525">
              <a:solidFill>
                <a:srgbClr val="9A9A9A"/>
              </a:solidFill>
              <a:prstDash val="solid"/>
              <a:round/>
              <a:headEnd len="sm" w="sm" type="none"/>
              <a:tailEnd len="sm" w="sm" type="none"/>
            </a:ln>
          </p:spPr>
        </p:cxnSp>
        <p:grpSp>
          <p:nvGrpSpPr>
            <p:cNvPr id="101" name="Google Shape;101;p14"/>
            <p:cNvGrpSpPr/>
            <p:nvPr/>
          </p:nvGrpSpPr>
          <p:grpSpPr>
            <a:xfrm>
              <a:off x="5942914" y="3967299"/>
              <a:ext cx="306171" cy="306910"/>
              <a:chOff x="5937564" y="3833745"/>
              <a:chExt cx="306171" cy="306910"/>
            </a:xfrm>
          </p:grpSpPr>
          <p:sp>
            <p:nvSpPr>
              <p:cNvPr id="102" name="Google Shape;102;p14"/>
              <p:cNvSpPr/>
              <p:nvPr/>
            </p:nvSpPr>
            <p:spPr>
              <a:xfrm>
                <a:off x="5937564" y="3833745"/>
                <a:ext cx="306171" cy="306910"/>
              </a:xfrm>
              <a:custGeom>
                <a:rect b="b" l="l" r="r" t="t"/>
                <a:pathLst>
                  <a:path extrusionOk="0" h="1052" w="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C75BD"/>
              </a:solidFill>
              <a:ln cap="flat" cmpd="sng" w="9525">
                <a:solidFill>
                  <a:srgbClr val="1C75BD"/>
                </a:solidFill>
                <a:prstDash val="solid"/>
                <a:round/>
                <a:headEnd len="sm" w="sm" type="none"/>
                <a:tailEnd len="sm" w="sm" type="none"/>
              </a:ln>
            </p:spPr>
            <p:txBody>
              <a:bodyPr anchorCtr="0" anchor="t" bIns="44300" lIns="88625" spcFirstLastPara="1" rIns="88625" wrap="square" tIns="44300">
                <a:noAutofit/>
              </a:bodyPr>
              <a:lstStyle/>
              <a:p>
                <a:pPr indent="0" lvl="0" marL="0" marR="0" rtl="0" algn="l">
                  <a:spcBef>
                    <a:spcPts val="0"/>
                  </a:spcBef>
                  <a:spcAft>
                    <a:spcPts val="0"/>
                  </a:spcAft>
                  <a:buNone/>
                </a:pPr>
                <a:r>
                  <a:t/>
                </a:r>
                <a:endParaRPr sz="1800">
                  <a:solidFill>
                    <a:srgbClr val="6E6F73"/>
                  </a:solidFill>
                  <a:latin typeface="Trebuchet MS"/>
                  <a:ea typeface="Trebuchet MS"/>
                  <a:cs typeface="Trebuchet MS"/>
                  <a:sym typeface="Trebuchet MS"/>
                </a:endParaRPr>
              </a:p>
            </p:txBody>
          </p:sp>
          <p:sp>
            <p:nvSpPr>
              <p:cNvPr id="103" name="Google Shape;103;p14"/>
              <p:cNvSpPr/>
              <p:nvPr/>
            </p:nvSpPr>
            <p:spPr>
              <a:xfrm>
                <a:off x="6053995" y="3876005"/>
                <a:ext cx="120251" cy="224730"/>
              </a:xfrm>
              <a:custGeom>
                <a:rect b="b" l="l" r="r" t="t"/>
                <a:pathLst>
                  <a:path extrusionOk="0" h="1824" w="976">
                    <a:moveTo>
                      <a:pt x="66" y="1824"/>
                    </a:moveTo>
                    <a:lnTo>
                      <a:pt x="0" y="1758"/>
                    </a:lnTo>
                    <a:lnTo>
                      <a:pt x="843" y="912"/>
                    </a:lnTo>
                    <a:lnTo>
                      <a:pt x="0" y="66"/>
                    </a:lnTo>
                    <a:lnTo>
                      <a:pt x="66" y="0"/>
                    </a:lnTo>
                    <a:lnTo>
                      <a:pt x="976" y="912"/>
                    </a:lnTo>
                    <a:lnTo>
                      <a:pt x="66" y="1824"/>
                    </a:lnTo>
                    <a:close/>
                  </a:path>
                </a:pathLst>
              </a:custGeom>
              <a:solidFill>
                <a:srgbClr val="FFFFFF"/>
              </a:solidFill>
              <a:ln>
                <a:noFill/>
              </a:ln>
            </p:spPr>
            <p:txBody>
              <a:bodyPr anchorCtr="0" anchor="t" bIns="44300" lIns="88625" spcFirstLastPara="1" rIns="88625" wrap="square" tIns="44300">
                <a:noAutofit/>
              </a:bodyPr>
              <a:lstStyle/>
              <a:p>
                <a:pPr indent="0" lvl="0" marL="0" marR="0" rtl="0" algn="l">
                  <a:spcBef>
                    <a:spcPts val="0"/>
                  </a:spcBef>
                  <a:spcAft>
                    <a:spcPts val="0"/>
                  </a:spcAft>
                  <a:buNone/>
                </a:pPr>
                <a:r>
                  <a:t/>
                </a:r>
                <a:endParaRPr sz="1800">
                  <a:solidFill>
                    <a:srgbClr val="6E6F73"/>
                  </a:solidFill>
                  <a:latin typeface="Trebuchet MS"/>
                  <a:ea typeface="Trebuchet MS"/>
                  <a:cs typeface="Trebuchet MS"/>
                  <a:sym typeface="Trebuchet MS"/>
                </a:endParaRPr>
              </a:p>
            </p:txBody>
          </p:sp>
        </p:grpSp>
      </p:grpSp>
      <p:graphicFrame>
        <p:nvGraphicFramePr>
          <p:cNvPr id="104" name="Google Shape;104;p14"/>
          <p:cNvGraphicFramePr/>
          <p:nvPr/>
        </p:nvGraphicFramePr>
        <p:xfrm>
          <a:off x="4989650" y="1032625"/>
          <a:ext cx="3000000" cy="3000000"/>
        </p:xfrm>
        <a:graphic>
          <a:graphicData uri="http://schemas.openxmlformats.org/drawingml/2006/table">
            <a:tbl>
              <a:tblPr>
                <a:noFill/>
                <a:tableStyleId>{66074D12-F9B7-4AF1-B681-1B299ED95063}</a:tableStyleId>
              </a:tblPr>
              <a:tblGrid>
                <a:gridCol w="1677650"/>
                <a:gridCol w="2117125"/>
              </a:tblGrid>
              <a:tr h="325400">
                <a:tc>
                  <a:txBody>
                    <a:bodyPr/>
                    <a:lstStyle/>
                    <a:p>
                      <a:pPr indent="0" lvl="0" marL="0" rtl="0" algn="l">
                        <a:spcBef>
                          <a:spcPts val="0"/>
                        </a:spcBef>
                        <a:spcAft>
                          <a:spcPts val="0"/>
                        </a:spcAft>
                        <a:buNone/>
                      </a:pPr>
                      <a:r>
                        <a:t/>
                      </a:r>
                      <a:endParaRPr sz="1500"/>
                    </a:p>
                  </a:txBody>
                  <a:tcPr marT="19050" marB="19050" marR="28575" marL="28575" anchor="b"/>
                </a:tc>
                <a:tc>
                  <a:txBody>
                    <a:bodyPr/>
                    <a:lstStyle/>
                    <a:p>
                      <a:pPr indent="0" lvl="0" marL="0" rtl="0" algn="l">
                        <a:spcBef>
                          <a:spcPts val="0"/>
                        </a:spcBef>
                        <a:spcAft>
                          <a:spcPts val="0"/>
                        </a:spcAft>
                        <a:buNone/>
                      </a:pPr>
                      <a:r>
                        <a:t/>
                      </a:r>
                      <a:endParaRPr sz="1500"/>
                    </a:p>
                  </a:txBody>
                  <a:tcPr marT="19050" marB="19050" marR="28575" marL="28575" anchor="b"/>
                </a:tc>
              </a:tr>
              <a:tr h="506325">
                <a:tc>
                  <a:txBody>
                    <a:bodyPr/>
                    <a:lstStyle/>
                    <a:p>
                      <a:pPr indent="0" lvl="0" marL="457200" rtl="0" algn="l">
                        <a:lnSpc>
                          <a:spcPct val="115000"/>
                        </a:lnSpc>
                        <a:spcBef>
                          <a:spcPts val="0"/>
                        </a:spcBef>
                        <a:spcAft>
                          <a:spcPts val="0"/>
                        </a:spcAft>
                        <a:buNone/>
                      </a:pPr>
                      <a:r>
                        <a:rPr lang="en" sz="1200">
                          <a:solidFill>
                            <a:srgbClr val="E71B56"/>
                          </a:solidFill>
                          <a:latin typeface="Trebuchet MS"/>
                          <a:ea typeface="Trebuchet MS"/>
                          <a:cs typeface="Trebuchet MS"/>
                          <a:sym typeface="Trebuchet MS"/>
                        </a:rPr>
                        <a:t>Pain Point</a:t>
                      </a:r>
                      <a:endParaRPr sz="1200">
                        <a:solidFill>
                          <a:srgbClr val="E71B56"/>
                        </a:solidFill>
                        <a:latin typeface="Trebuchet MS"/>
                        <a:ea typeface="Trebuchet MS"/>
                        <a:cs typeface="Trebuchet MS"/>
                        <a:sym typeface="Trebuchet MS"/>
                      </a:endParaRPr>
                    </a:p>
                  </a:txBody>
                  <a:tcPr marT="19050" marB="19050" marR="28575" marL="28575" anchor="b">
                    <a:lnB cap="flat" cmpd="sng" w="9525">
                      <a:solidFill>
                        <a:srgbClr val="000000"/>
                      </a:solidFill>
                      <a:prstDash val="solid"/>
                      <a:round/>
                      <a:headEnd len="sm" w="sm" type="none"/>
                      <a:tailEnd len="sm" w="sm" type="none"/>
                    </a:lnB>
                  </a:tcPr>
                </a:tc>
                <a:tc>
                  <a:txBody>
                    <a:bodyPr/>
                    <a:lstStyle/>
                    <a:p>
                      <a:pPr indent="0" lvl="0" marL="457200" rtl="0" algn="l">
                        <a:lnSpc>
                          <a:spcPct val="115000"/>
                        </a:lnSpc>
                        <a:spcBef>
                          <a:spcPts val="0"/>
                        </a:spcBef>
                        <a:spcAft>
                          <a:spcPts val="0"/>
                        </a:spcAft>
                        <a:buNone/>
                      </a:pPr>
                      <a:r>
                        <a:rPr lang="en" sz="1200">
                          <a:solidFill>
                            <a:srgbClr val="E71B56"/>
                          </a:solidFill>
                          <a:latin typeface="Trebuchet MS"/>
                          <a:ea typeface="Trebuchet MS"/>
                          <a:cs typeface="Trebuchet MS"/>
                          <a:sym typeface="Trebuchet MS"/>
                        </a:rPr>
                        <a:t>How Your Pipeline Solves It</a:t>
                      </a:r>
                      <a:endParaRPr sz="1200">
                        <a:solidFill>
                          <a:srgbClr val="E71B56"/>
                        </a:solidFill>
                        <a:latin typeface="Trebuchet MS"/>
                        <a:ea typeface="Trebuchet MS"/>
                        <a:cs typeface="Trebuchet MS"/>
                        <a:sym typeface="Trebuchet MS"/>
                      </a:endParaRPr>
                    </a:p>
                  </a:txBody>
                  <a:tcPr marT="19050" marB="19050" marR="28575" marL="28575" anchor="b">
                    <a:lnB cap="flat" cmpd="sng" w="9525">
                      <a:solidFill>
                        <a:srgbClr val="000000"/>
                      </a:solidFill>
                      <a:prstDash val="solid"/>
                      <a:round/>
                      <a:headEnd len="sm" w="sm" type="none"/>
                      <a:tailEnd len="sm" w="sm" type="none"/>
                    </a:lnB>
                  </a:tcPr>
                </a:tc>
              </a:tr>
              <a:tr h="602750">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[1.High manual effort and time-consuming review]	</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solid"/>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                                     </a:t>
                      </a:r>
                      <a:r>
                        <a:rPr lang="en" sz="1000">
                          <a:solidFill>
                            <a:srgbClr val="6E6F73"/>
                          </a:solidFill>
                          <a:latin typeface="Trebuchet MS"/>
                          <a:ea typeface="Trebuchet MS"/>
                          <a:cs typeface="Trebuchet MS"/>
                          <a:sym typeface="Trebuchet MS"/>
                        </a:rPr>
                        <a:t>[</a:t>
                      </a:r>
                      <a:r>
                        <a:rPr lang="en" sz="1000">
                          <a:solidFill>
                            <a:srgbClr val="6E6F73"/>
                          </a:solidFill>
                          <a:latin typeface="Trebuchet MS"/>
                          <a:ea typeface="Trebuchet MS"/>
                          <a:cs typeface="Trebuchet MS"/>
                          <a:sym typeface="Trebuchet MS"/>
                        </a:rPr>
                        <a:t>Automated OCR + classification instantly identifies document types and extracts key fields</a:t>
                      </a:r>
                      <a:r>
                        <a:rPr lang="en" sz="1000">
                          <a:solidFill>
                            <a:srgbClr val="6E6F73"/>
                          </a:solidFill>
                          <a:latin typeface="Trebuchet MS"/>
                          <a:ea typeface="Trebuchet MS"/>
                          <a:cs typeface="Trebuchet MS"/>
                          <a:sym typeface="Trebuchet MS"/>
                        </a:rPr>
                        <a:t>]</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solid"/>
                      <a:round/>
                      <a:headEnd len="sm" w="sm" type="none"/>
                      <a:tailEnd len="sm" w="sm" type="none"/>
                    </a:lnT>
                    <a:lnB cap="flat" cmpd="sng" w="9525">
                      <a:solidFill>
                        <a:srgbClr val="000000"/>
                      </a:solidFill>
                      <a:prstDash val="dash"/>
                      <a:round/>
                      <a:headEnd len="sm" w="sm" type="none"/>
                      <a:tailEnd len="sm" w="sm" type="none"/>
                    </a:lnB>
                  </a:tcPr>
                </a:tc>
              </a:tr>
              <a:tr h="602750">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[2.Inconsistent data quality and human errors]	</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                                         </a:t>
                      </a:r>
                      <a:r>
                        <a:rPr lang="en" sz="1000">
                          <a:solidFill>
                            <a:srgbClr val="6E6F73"/>
                          </a:solidFill>
                          <a:latin typeface="Trebuchet MS"/>
                          <a:ea typeface="Trebuchet MS"/>
                          <a:cs typeface="Trebuchet MS"/>
                          <a:sym typeface="Trebuchet MS"/>
                        </a:rPr>
                        <a:t>[</a:t>
                      </a:r>
                      <a:r>
                        <a:rPr lang="en" sz="1000">
                          <a:solidFill>
                            <a:srgbClr val="6E6F73"/>
                          </a:solidFill>
                          <a:latin typeface="Trebuchet MS"/>
                          <a:ea typeface="Trebuchet MS"/>
                          <a:cs typeface="Trebuchet MS"/>
                          <a:sym typeface="Trebuchet MS"/>
                        </a:rPr>
                        <a:t>AI-driven extraction standardizes structured outputs and reduces error rates</a:t>
                      </a:r>
                      <a:r>
                        <a:rPr lang="en" sz="1000">
                          <a:solidFill>
                            <a:srgbClr val="6E6F73"/>
                          </a:solidFill>
                          <a:latin typeface="Trebuchet MS"/>
                          <a:ea typeface="Trebuchet MS"/>
                          <a:cs typeface="Trebuchet MS"/>
                          <a:sym typeface="Trebuchet MS"/>
                        </a:rPr>
                        <a:t>]</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611800">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[3.Difficulty searching across large unstructured documents]	</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                                      </a:t>
                      </a:r>
                      <a:r>
                        <a:rPr lang="en" sz="1000">
                          <a:solidFill>
                            <a:srgbClr val="6E6F73"/>
                          </a:solidFill>
                          <a:latin typeface="Trebuchet MS"/>
                          <a:ea typeface="Trebuchet MS"/>
                          <a:cs typeface="Trebuchet MS"/>
                          <a:sym typeface="Trebuchet MS"/>
                        </a:rPr>
                        <a:t>[</a:t>
                      </a:r>
                      <a:r>
                        <a:rPr lang="en" sz="1000">
                          <a:solidFill>
                            <a:srgbClr val="6E6F73"/>
                          </a:solidFill>
                          <a:latin typeface="Trebuchet MS"/>
                          <a:ea typeface="Trebuchet MS"/>
                          <a:cs typeface="Trebuchet MS"/>
                          <a:sym typeface="Trebuchet MS"/>
                        </a:rPr>
                        <a:t>RAG-based retrieval enables semantic search and precise answer extraction across long documents</a:t>
                      </a:r>
                      <a:r>
                        <a:rPr lang="en" sz="1000">
                          <a:solidFill>
                            <a:srgbClr val="6E6F73"/>
                          </a:solidFill>
                          <a:latin typeface="Trebuchet MS"/>
                          <a:ea typeface="Trebuchet MS"/>
                          <a:cs typeface="Trebuchet MS"/>
                          <a:sym typeface="Trebuchet MS"/>
                        </a:rPr>
                        <a:t>]</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611800">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[4. Lack of visibility into borrower risks and patterns]	</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6E6F73"/>
                          </a:solidFill>
                          <a:latin typeface="Trebuchet MS"/>
                          <a:ea typeface="Trebuchet MS"/>
                          <a:cs typeface="Trebuchet MS"/>
                          <a:sym typeface="Trebuchet MS"/>
                        </a:rPr>
                        <a:t>                                               </a:t>
                      </a:r>
                      <a:r>
                        <a:rPr lang="en" sz="1000">
                          <a:solidFill>
                            <a:srgbClr val="6E6F73"/>
                          </a:solidFill>
                          <a:latin typeface="Trebuchet MS"/>
                          <a:ea typeface="Trebuchet MS"/>
                          <a:cs typeface="Trebuchet MS"/>
                          <a:sym typeface="Trebuchet MS"/>
                        </a:rPr>
                        <a:t>[</a:t>
                      </a:r>
                      <a:r>
                        <a:rPr lang="en" sz="1000">
                          <a:solidFill>
                            <a:srgbClr val="6E6F73"/>
                          </a:solidFill>
                          <a:latin typeface="Trebuchet MS"/>
                          <a:ea typeface="Trebuchet MS"/>
                          <a:cs typeface="Trebuchet MS"/>
                          <a:sym typeface="Trebuchet MS"/>
                        </a:rPr>
                        <a:t>Insights pipeline highlights anomalies, missing documents, and red flags using metadata + extracted fields</a:t>
                      </a:r>
                      <a:r>
                        <a:rPr lang="en" sz="1000">
                          <a:solidFill>
                            <a:srgbClr val="6E6F73"/>
                          </a:solidFill>
                          <a:latin typeface="Trebuchet MS"/>
                          <a:ea typeface="Trebuchet MS"/>
                          <a:cs typeface="Trebuchet MS"/>
                          <a:sym typeface="Trebuchet MS"/>
                        </a:rPr>
                        <a:t>]</a:t>
                      </a:r>
                      <a:endParaRPr sz="1000">
                        <a:solidFill>
                          <a:srgbClr val="6E6F73"/>
                        </a:solidFill>
                        <a:latin typeface="Trebuchet MS"/>
                        <a:ea typeface="Trebuchet MS"/>
                        <a:cs typeface="Trebuchet MS"/>
                        <a:sym typeface="Trebuchet MS"/>
                      </a:endParaRPr>
                    </a:p>
                  </a:txBody>
                  <a:tcPr marT="19050" marB="19050" marR="28575" marL="28575" anchor="b">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bl>
          </a:graphicData>
        </a:graphic>
      </p:graphicFrame>
      <p:pic>
        <p:nvPicPr>
          <p:cNvPr descr="chart dollar icon vector. Isolated contour symbol illustration (Provided by Getty Images)" id="105" name="Google Shape;105;p14"/>
          <p:cNvPicPr preferRelativeResize="0"/>
          <p:nvPr/>
        </p:nvPicPr>
        <p:blipFill>
          <a:blip r:embed="rId3">
            <a:alphaModFix/>
          </a:blip>
          <a:stretch>
            <a:fillRect/>
          </a:stretch>
        </p:blipFill>
        <p:spPr>
          <a:xfrm>
            <a:off x="577451" y="3067276"/>
            <a:ext cx="605998" cy="605998"/>
          </a:xfrm>
          <a:prstGeom prst="rect">
            <a:avLst/>
          </a:prstGeom>
          <a:noFill/>
          <a:ln>
            <a:noFill/>
          </a:ln>
        </p:spPr>
      </p:pic>
      <p:pic>
        <p:nvPicPr>
          <p:cNvPr descr="Darts icon vector. Isolated contour symbol illustration (Provided by Getty Images)" id="106" name="Google Shape;106;p14"/>
          <p:cNvPicPr preferRelativeResize="0"/>
          <p:nvPr/>
        </p:nvPicPr>
        <p:blipFill>
          <a:blip r:embed="rId4">
            <a:alphaModFix/>
          </a:blip>
          <a:stretch>
            <a:fillRect/>
          </a:stretch>
        </p:blipFill>
        <p:spPr>
          <a:xfrm>
            <a:off x="577450" y="1658114"/>
            <a:ext cx="605998" cy="605998"/>
          </a:xfrm>
          <a:prstGeom prst="rect">
            <a:avLst/>
          </a:prstGeom>
          <a:noFill/>
          <a:ln>
            <a:noFill/>
          </a:ln>
        </p:spPr>
      </p:pic>
      <p:pic>
        <p:nvPicPr>
          <p:cNvPr descr="Credit card and communication error thin line icon, Payment problem concept, payment failure sign on white background, Credit card with 404 error icon in outline style. Vector graphics. (Provided by Getty Images)" id="107" name="Google Shape;107;p14"/>
          <p:cNvPicPr preferRelativeResize="0"/>
          <p:nvPr/>
        </p:nvPicPr>
        <p:blipFill>
          <a:blip r:embed="rId5">
            <a:alphaModFix/>
          </a:blip>
          <a:stretch>
            <a:fillRect/>
          </a:stretch>
        </p:blipFill>
        <p:spPr>
          <a:xfrm>
            <a:off x="4932525" y="1453951"/>
            <a:ext cx="359726" cy="359726"/>
          </a:xfrm>
          <a:prstGeom prst="rect">
            <a:avLst/>
          </a:prstGeom>
          <a:noFill/>
          <a:ln>
            <a:noFill/>
          </a:ln>
        </p:spPr>
      </p:pic>
      <p:pic>
        <p:nvPicPr>
          <p:cNvPr descr="Solution thin line icon. Light bulb in hands vector illustration isolated on white. Innovation outline style design, designed for web and app. Eps 10. (Provided by Getty Images)" id="108" name="Google Shape;108;p14"/>
          <p:cNvPicPr preferRelativeResize="0"/>
          <p:nvPr/>
        </p:nvPicPr>
        <p:blipFill>
          <a:blip r:embed="rId6">
            <a:alphaModFix/>
          </a:blip>
          <a:stretch>
            <a:fillRect/>
          </a:stretch>
        </p:blipFill>
        <p:spPr>
          <a:xfrm>
            <a:off x="6604497" y="1453951"/>
            <a:ext cx="359726" cy="359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250500" y="53425"/>
            <a:ext cx="8643000" cy="221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600">
                <a:solidFill>
                  <a:schemeClr val="dk2"/>
                </a:solidFill>
                <a:latin typeface="Inter"/>
                <a:ea typeface="Inter"/>
                <a:cs typeface="Inter"/>
                <a:sym typeface="Inter"/>
              </a:rPr>
              <a:t> Document Intelligence RAG System (Hybrid Retrieval)</a:t>
            </a:r>
            <a:endParaRPr i="1" sz="1000">
              <a:solidFill>
                <a:srgbClr val="575757"/>
              </a:solidFill>
              <a:latin typeface="Trebuchet MS"/>
              <a:ea typeface="Trebuchet MS"/>
              <a:cs typeface="Trebuchet MS"/>
              <a:sym typeface="Trebuchet MS"/>
            </a:endParaRPr>
          </a:p>
        </p:txBody>
      </p:sp>
      <p:sp>
        <p:nvSpPr>
          <p:cNvPr id="114" name="Google Shape;114;p15"/>
          <p:cNvSpPr txBox="1"/>
          <p:nvPr/>
        </p:nvSpPr>
        <p:spPr>
          <a:xfrm>
            <a:off x="466050" y="4060900"/>
            <a:ext cx="5201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900"/>
              </a:spcBef>
              <a:spcAft>
                <a:spcPts val="900"/>
              </a:spcAft>
              <a:buNone/>
            </a:pPr>
            <a:r>
              <a:t/>
            </a:r>
            <a:endParaRPr i="1" sz="1200">
              <a:latin typeface="Trebuchet MS"/>
              <a:ea typeface="Trebuchet MS"/>
              <a:cs typeface="Trebuchet MS"/>
              <a:sym typeface="Trebuchet MS"/>
            </a:endParaRPr>
          </a:p>
        </p:txBody>
      </p:sp>
      <p:sp>
        <p:nvSpPr>
          <p:cNvPr id="115" name="Google Shape;115;p15"/>
          <p:cNvSpPr txBox="1"/>
          <p:nvPr/>
        </p:nvSpPr>
        <p:spPr>
          <a:xfrm>
            <a:off x="3262975" y="808725"/>
            <a:ext cx="2225700" cy="360300"/>
          </a:xfrm>
          <a:prstGeom prst="rect">
            <a:avLst/>
          </a:prstGeom>
          <a:noFill/>
          <a:ln>
            <a:noFill/>
          </a:ln>
        </p:spPr>
        <p:txBody>
          <a:bodyPr anchorCtr="0" anchor="ctr" bIns="91425" lIns="91425" spcFirstLastPara="1" rIns="91425" wrap="square" tIns="91425">
            <a:normAutofit fontScale="92500" lnSpcReduction="20000"/>
          </a:bodyPr>
          <a:lstStyle/>
          <a:p>
            <a:pPr indent="0" lvl="0" marL="0" rtl="0" algn="l">
              <a:lnSpc>
                <a:spcPct val="115000"/>
              </a:lnSpc>
              <a:spcBef>
                <a:spcPts val="1400"/>
              </a:spcBef>
              <a:spcAft>
                <a:spcPts val="400"/>
              </a:spcAft>
              <a:buNone/>
            </a:pPr>
            <a:r>
              <a:rPr b="1" lang="en" sz="1300">
                <a:solidFill>
                  <a:schemeClr val="dk2"/>
                </a:solidFill>
              </a:rPr>
              <a:t>Component Specifications</a:t>
            </a:r>
            <a:endParaRPr b="1" sz="1300">
              <a:solidFill>
                <a:schemeClr val="dk2"/>
              </a:solidFill>
            </a:endParaRPr>
          </a:p>
        </p:txBody>
      </p:sp>
      <p:graphicFrame>
        <p:nvGraphicFramePr>
          <p:cNvPr id="116" name="Google Shape;116;p15"/>
          <p:cNvGraphicFramePr/>
          <p:nvPr/>
        </p:nvGraphicFramePr>
        <p:xfrm>
          <a:off x="178763" y="1121625"/>
          <a:ext cx="3000000" cy="3000000"/>
        </p:xfrm>
        <a:graphic>
          <a:graphicData uri="http://schemas.openxmlformats.org/drawingml/2006/table">
            <a:tbl>
              <a:tblPr>
                <a:noFill/>
                <a:tableStyleId>{66074D12-F9B7-4AF1-B681-1B299ED95063}</a:tableStyleId>
              </a:tblPr>
              <a:tblGrid>
                <a:gridCol w="994675"/>
                <a:gridCol w="4015625"/>
                <a:gridCol w="3776150"/>
              </a:tblGrid>
              <a:tr h="370875">
                <a:tc>
                  <a:txBody>
                    <a:bodyPr/>
                    <a:lstStyle/>
                    <a:p>
                      <a:pPr indent="0" lvl="0" marL="0" rtl="0" algn="ctr">
                        <a:lnSpc>
                          <a:spcPct val="115000"/>
                        </a:lnSpc>
                        <a:spcBef>
                          <a:spcPts val="0"/>
                        </a:spcBef>
                        <a:spcAft>
                          <a:spcPts val="0"/>
                        </a:spcAft>
                        <a:buNone/>
                      </a:pPr>
                      <a:r>
                        <a:rPr b="1" lang="en" sz="900">
                          <a:solidFill>
                            <a:srgbClr val="E71C57"/>
                          </a:solidFill>
                          <a:latin typeface="Inter"/>
                          <a:ea typeface="Inter"/>
                          <a:cs typeface="Inter"/>
                          <a:sym typeface="Inter"/>
                        </a:rPr>
                        <a:t>Component</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rgbClr val="E71C57"/>
                          </a:solidFill>
                          <a:latin typeface="Inter"/>
                          <a:ea typeface="Inter"/>
                          <a:cs typeface="Inter"/>
                          <a:sym typeface="Inter"/>
                        </a:rPr>
                        <a:t>Technology Choice</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rgbClr val="E71C57"/>
                          </a:solidFill>
                          <a:latin typeface="Inter"/>
                          <a:ea typeface="Inter"/>
                          <a:cs typeface="Inter"/>
                          <a:sym typeface="Inter"/>
                        </a:rPr>
                        <a:t>Configuration Details</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450650">
                <a:tc>
                  <a:txBody>
                    <a:bodyPr/>
                    <a:lstStyle/>
                    <a:p>
                      <a:pPr indent="0" lvl="0" marL="0" rtl="0" algn="l">
                        <a:spcBef>
                          <a:spcPts val="0"/>
                        </a:spcBef>
                        <a:spcAft>
                          <a:spcPts val="0"/>
                        </a:spcAft>
                        <a:buNone/>
                      </a:pPr>
                      <a:r>
                        <a:rPr b="1" lang="en" sz="900">
                          <a:solidFill>
                            <a:srgbClr val="E71C57"/>
                          </a:solidFill>
                          <a:latin typeface="Inter"/>
                          <a:ea typeface="Inter"/>
                          <a:cs typeface="Inter"/>
                          <a:sym typeface="Inter"/>
                        </a:rPr>
                        <a:t>OCR Engine</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[PyMuPDF(fitz)]</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latin typeface="Inter"/>
                          <a:ea typeface="Inter"/>
                          <a:cs typeface="Inter"/>
                          <a:sym typeface="Inter"/>
                        </a:rPr>
                        <a:t>Used for text extraction, page layout detection, bounding boxes; no OCR applied (pure digital PDF extraction)</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580275">
                <a:tc>
                  <a:txBody>
                    <a:bodyPr/>
                    <a:lstStyle/>
                    <a:p>
                      <a:pPr indent="0" lvl="0" marL="0" rtl="0" algn="l">
                        <a:spcBef>
                          <a:spcPts val="0"/>
                        </a:spcBef>
                        <a:spcAft>
                          <a:spcPts val="0"/>
                        </a:spcAft>
                        <a:buNone/>
                      </a:pPr>
                      <a:r>
                        <a:rPr b="1" lang="en" sz="900">
                          <a:solidFill>
                            <a:srgbClr val="E71C57"/>
                          </a:solidFill>
                          <a:latin typeface="Inter"/>
                          <a:ea typeface="Inter"/>
                          <a:cs typeface="Inter"/>
                          <a:sym typeface="Inter"/>
                        </a:rPr>
                        <a:t>Text Chunking</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[Fixed Size Recursive Chunking]</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t>Chunk size: </a:t>
                      </a:r>
                      <a:r>
                        <a:rPr b="1" lang="en" sz="900"/>
                        <a:t>500–700 tokens</a:t>
                      </a:r>
                      <a:r>
                        <a:rPr lang="en" sz="900"/>
                        <a:t>. Overlap: </a:t>
                      </a:r>
                      <a:r>
                        <a:rPr b="1" lang="en" sz="900"/>
                        <a:t>100 tokens</a:t>
                      </a:r>
                      <a:r>
                        <a:rPr lang="en" sz="900"/>
                        <a:t>. Recursive splitting fallback on headings → paragraphs → sentences. Ensures semantic continuity for long documents.</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450650">
                <a:tc>
                  <a:txBody>
                    <a:bodyPr/>
                    <a:lstStyle/>
                    <a:p>
                      <a:pPr indent="0" lvl="0" marL="0" rtl="0" algn="l">
                        <a:spcBef>
                          <a:spcPts val="0"/>
                        </a:spcBef>
                        <a:spcAft>
                          <a:spcPts val="0"/>
                        </a:spcAft>
                        <a:buNone/>
                      </a:pPr>
                      <a:r>
                        <a:rPr b="1" lang="en" sz="900">
                          <a:solidFill>
                            <a:srgbClr val="E71C57"/>
                          </a:solidFill>
                          <a:latin typeface="Inter"/>
                          <a:ea typeface="Inter"/>
                          <a:cs typeface="Inter"/>
                          <a:sym typeface="Inter"/>
                        </a:rPr>
                        <a:t>Embeddings</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latin typeface="Inter"/>
                          <a:ea typeface="Inter"/>
                          <a:cs typeface="Inter"/>
                          <a:sym typeface="Inter"/>
                        </a:rPr>
                        <a:t>SentenceTransformer — all-MiniLM-L6-v2</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latin typeface="Inter"/>
                          <a:ea typeface="Inter"/>
                          <a:cs typeface="Inter"/>
                          <a:sym typeface="Inter"/>
                        </a:rPr>
                        <a:t>384-dimensional dense embeddings. Lightweight and fast. Good for semantic similarity on short–medium text spans.</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450650">
                <a:tc>
                  <a:txBody>
                    <a:bodyPr/>
                    <a:lstStyle/>
                    <a:p>
                      <a:pPr indent="0" lvl="0" marL="0" rtl="0" algn="l">
                        <a:spcBef>
                          <a:spcPts val="0"/>
                        </a:spcBef>
                        <a:spcAft>
                          <a:spcPts val="0"/>
                        </a:spcAft>
                        <a:buNone/>
                      </a:pPr>
                      <a:r>
                        <a:rPr b="1" lang="en" sz="900">
                          <a:solidFill>
                            <a:srgbClr val="E71C57"/>
                          </a:solidFill>
                          <a:latin typeface="Inter"/>
                          <a:ea typeface="Inter"/>
                          <a:cs typeface="Inter"/>
                          <a:sym typeface="Inter"/>
                        </a:rPr>
                        <a:t>Vector Database</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FAISS (CPU)</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latin typeface="Inter"/>
                          <a:ea typeface="Inter"/>
                          <a:cs typeface="Inter"/>
                          <a:sym typeface="Inter"/>
                        </a:rPr>
                        <a:t>similarity metric: cosine similarity, indexing method : flat type, storage type : In-memory vector store for fast lookup.</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580275">
                <a:tc>
                  <a:txBody>
                    <a:bodyPr/>
                    <a:lstStyle/>
                    <a:p>
                      <a:pPr indent="0" lvl="0" marL="0" rtl="0" algn="l">
                        <a:spcBef>
                          <a:spcPts val="0"/>
                        </a:spcBef>
                        <a:spcAft>
                          <a:spcPts val="0"/>
                        </a:spcAft>
                        <a:buNone/>
                      </a:pPr>
                      <a:r>
                        <a:rPr b="1" lang="en" sz="900">
                          <a:solidFill>
                            <a:srgbClr val="E71C57"/>
                          </a:solidFill>
                          <a:latin typeface="Inter"/>
                          <a:ea typeface="Inter"/>
                          <a:cs typeface="Inter"/>
                          <a:sym typeface="Inter"/>
                        </a:rPr>
                        <a:t>Retriever</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latin typeface="Inter"/>
                          <a:ea typeface="Inter"/>
                          <a:cs typeface="Inter"/>
                          <a:sym typeface="Inter"/>
                        </a:rPr>
                        <a:t>Hybrid Retrieval (Keyword + Vector)]</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t>Dense + sparse scoring combined. Top-K: </a:t>
                      </a:r>
                      <a:r>
                        <a:rPr b="1" lang="en" sz="900"/>
                        <a:t>5–8</a:t>
                      </a:r>
                      <a:r>
                        <a:rPr lang="en" sz="900"/>
                        <a:t>. Filters via metadata (page number, document ID). Improves precision for financial/legal PDFs.</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550350">
                <a:tc>
                  <a:txBody>
                    <a:bodyPr/>
                    <a:lstStyle/>
                    <a:p>
                      <a:pPr indent="0" lvl="0" marL="0" rtl="0" algn="l">
                        <a:spcBef>
                          <a:spcPts val="0"/>
                        </a:spcBef>
                        <a:spcAft>
                          <a:spcPts val="0"/>
                        </a:spcAft>
                        <a:buNone/>
                      </a:pPr>
                      <a:r>
                        <a:rPr b="1" lang="en" sz="900">
                          <a:solidFill>
                            <a:srgbClr val="E71C57"/>
                          </a:solidFill>
                          <a:latin typeface="Inter"/>
                          <a:ea typeface="Inter"/>
                          <a:cs typeface="Inter"/>
                          <a:sym typeface="Inter"/>
                        </a:rPr>
                        <a:t>LLM</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[Groq LLM via Groq API(Llama 3 Model)]</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t>Temperature: </a:t>
                      </a:r>
                      <a:r>
                        <a:rPr b="1" lang="en" sz="900"/>
                        <a:t>0.1–0.3</a:t>
                      </a:r>
                      <a:r>
                        <a:rPr lang="en" sz="900"/>
                        <a:t> (factual). Max tokens: </a:t>
                      </a:r>
                      <a:r>
                        <a:rPr b="1" lang="en" sz="900"/>
                        <a:t>1024–2048</a:t>
                      </a:r>
                      <a:r>
                        <a:rPr lang="en" sz="900"/>
                        <a:t>. Deterministic mode for consistent QA.</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r h="448975">
                <a:tc>
                  <a:txBody>
                    <a:bodyPr/>
                    <a:lstStyle/>
                    <a:p>
                      <a:pPr indent="0" lvl="0" marL="0" rtl="0" algn="l">
                        <a:spcBef>
                          <a:spcPts val="0"/>
                        </a:spcBef>
                        <a:spcAft>
                          <a:spcPts val="0"/>
                        </a:spcAft>
                        <a:buNone/>
                      </a:pPr>
                      <a:r>
                        <a:rPr b="1" lang="en" sz="900">
                          <a:solidFill>
                            <a:srgbClr val="E71C57"/>
                          </a:solidFill>
                          <a:latin typeface="Inter"/>
                          <a:ea typeface="Inter"/>
                          <a:cs typeface="Inter"/>
                          <a:sym typeface="Inter"/>
                        </a:rPr>
                        <a:t>Prompt Strategy</a:t>
                      </a:r>
                      <a:endParaRPr b="1" sz="900">
                        <a:solidFill>
                          <a:srgbClr val="E71C57"/>
                        </a:solidFill>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[Instruction + Context-stuffing with safety constraints]</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a:t>
                      </a:r>
                      <a:r>
                        <a:rPr lang="en" sz="900"/>
                        <a:t>Uses a structured template: </a:t>
                      </a:r>
                      <a:r>
                        <a:rPr i="1" lang="en" sz="900"/>
                        <a:t>Task → Context → Constraints → Answer format</a:t>
                      </a:r>
                      <a:r>
                        <a:rPr lang="en" sz="900"/>
                        <a:t>. No hallucinations. Model must answer </a:t>
                      </a:r>
                      <a:r>
                        <a:rPr b="1" lang="en" sz="900"/>
                        <a:t>only from retrieved chunks</a:t>
                      </a:r>
                      <a:r>
                        <a:rPr lang="en" sz="900"/>
                        <a:t>.</a:t>
                      </a:r>
                      <a:r>
                        <a:rPr lang="en" sz="900">
                          <a:latin typeface="Inter"/>
                          <a:ea typeface="Inter"/>
                          <a:cs typeface="Inter"/>
                          <a:sym typeface="Inter"/>
                        </a:rPr>
                        <a:t>]</a:t>
                      </a:r>
                      <a:endParaRPr sz="900">
                        <a:latin typeface="Inter"/>
                        <a:ea typeface="Inter"/>
                        <a:cs typeface="Inter"/>
                        <a:sym typeface="Inter"/>
                      </a:endParaRPr>
                    </a:p>
                  </a:txBody>
                  <a:tcPr marT="91425" marB="91425" marR="91425" marL="91425">
                    <a:lnL cap="flat" cmpd="sng" w="9525">
                      <a:solidFill>
                        <a:srgbClr val="000000"/>
                      </a:solidFill>
                      <a:prstDash val="dot"/>
                      <a:round/>
                      <a:headEnd len="sm" w="sm" type="none"/>
                      <a:tailEnd len="sm" w="sm" type="none"/>
                    </a:lnL>
                    <a:lnR cap="flat" cmpd="sng" w="9525">
                      <a:solidFill>
                        <a:srgbClr val="000000"/>
                      </a:solidFill>
                      <a:prstDash val="dot"/>
                      <a:round/>
                      <a:headEnd len="sm" w="sm" type="none"/>
                      <a:tailEnd len="sm" w="sm" type="none"/>
                    </a:lnR>
                    <a:lnT cap="flat" cmpd="sng" w="9525">
                      <a:solidFill>
                        <a:srgbClr val="000000"/>
                      </a:solidFill>
                      <a:prstDash val="dot"/>
                      <a:round/>
                      <a:headEnd len="sm" w="sm" type="none"/>
                      <a:tailEnd len="sm" w="sm" type="none"/>
                    </a:lnT>
                    <a:lnB cap="flat" cmpd="sng" w="9525">
                      <a:solidFill>
                        <a:srgbClr val="000000"/>
                      </a:solidFill>
                      <a:prstDash val="dot"/>
                      <a:round/>
                      <a:headEnd len="sm" w="sm" type="none"/>
                      <a:tailEnd len="sm" w="sm" type="none"/>
                    </a:lnB>
                  </a:tcPr>
                </a:tc>
              </a:tr>
            </a:tbl>
          </a:graphicData>
        </a:graphic>
      </p:graphicFrame>
      <p:sp>
        <p:nvSpPr>
          <p:cNvPr id="117" name="Google Shape;117;p15"/>
          <p:cNvSpPr txBox="1"/>
          <p:nvPr/>
        </p:nvSpPr>
        <p:spPr>
          <a:xfrm>
            <a:off x="157200" y="275125"/>
            <a:ext cx="8829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latin typeface="Inter"/>
              <a:ea typeface="Inter"/>
              <a:cs typeface="Inter"/>
              <a:sym typeface="Inter"/>
            </a:endParaRPr>
          </a:p>
          <a:p>
            <a:pPr indent="0" lvl="0" marL="0" rtl="0" algn="l">
              <a:spcBef>
                <a:spcPts val="0"/>
              </a:spcBef>
              <a:spcAft>
                <a:spcPts val="0"/>
              </a:spcAft>
              <a:buNone/>
            </a:pPr>
            <a:r>
              <a:rPr lang="en" sz="1100">
                <a:latin typeface="Inter"/>
                <a:ea typeface="Inter"/>
                <a:cs typeface="Inter"/>
                <a:sym typeface="Inter"/>
              </a:rPr>
              <a:t>PDF Upload → PDF Parsing (PyMuPDF) → Logical Document Segmentation → Metadata-Aware Chunking → Embedding Generation → FAISS Vector Store → Hybrid Retrieval (Keyword + Vector) → LLM Answer Generation with Sources</a:t>
            </a:r>
            <a:endParaRPr>
              <a:latin typeface="Inter"/>
              <a:ea typeface="Inter"/>
              <a:cs typeface="Inter"/>
              <a:sym typeface="Inter"/>
            </a:endParaRPr>
          </a:p>
        </p:txBody>
      </p:sp>
      <p:graphicFrame>
        <p:nvGraphicFramePr>
          <p:cNvPr id="118" name="Google Shape;118;p15"/>
          <p:cNvGraphicFramePr/>
          <p:nvPr/>
        </p:nvGraphicFramePr>
        <p:xfrm>
          <a:off x="152400" y="152400"/>
          <a:ext cx="3000000" cy="3000000"/>
        </p:xfrm>
        <a:graphic>
          <a:graphicData uri="http://schemas.openxmlformats.org/drawingml/2006/table">
            <a:tbl>
              <a:tblPr>
                <a:noFill/>
                <a:tableStyleId>{66074D12-F9B7-4AF1-B681-1B299ED95063}</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nvSpPr>
        <p:spPr>
          <a:xfrm>
            <a:off x="347250" y="48350"/>
            <a:ext cx="8537400" cy="843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lang="en" sz="1500">
                <a:solidFill>
                  <a:schemeClr val="dk1"/>
                </a:solidFill>
                <a:latin typeface="Inter"/>
                <a:ea typeface="Inter"/>
                <a:cs typeface="Inter"/>
                <a:sym typeface="Inter"/>
              </a:rPr>
              <a:t>Pipeline Performance Metrics | [Results from 1-Week Evaluation</a:t>
            </a:r>
            <a:endParaRPr sz="1500">
              <a:solidFill>
                <a:schemeClr val="dk1"/>
              </a:solidFill>
              <a:latin typeface="Inter"/>
              <a:ea typeface="Inter"/>
              <a:cs typeface="Inter"/>
              <a:sym typeface="Inter"/>
            </a:endParaRPr>
          </a:p>
          <a:p>
            <a:pPr indent="0" lvl="0" marL="0" rtl="0" algn="l">
              <a:lnSpc>
                <a:spcPct val="90000"/>
              </a:lnSpc>
              <a:spcBef>
                <a:spcPts val="400"/>
              </a:spcBef>
              <a:spcAft>
                <a:spcPts val="0"/>
              </a:spcAft>
              <a:buNone/>
            </a:pPr>
            <a:r>
              <a:t/>
            </a:r>
            <a:endParaRPr sz="1600">
              <a:solidFill>
                <a:srgbClr val="E71C57"/>
              </a:solidFill>
              <a:latin typeface="Trebuchet MS"/>
              <a:ea typeface="Trebuchet MS"/>
              <a:cs typeface="Trebuchet MS"/>
              <a:sym typeface="Trebuchet MS"/>
            </a:endParaRPr>
          </a:p>
          <a:p>
            <a:pPr indent="0" lvl="0" marL="0" rtl="0" algn="l">
              <a:lnSpc>
                <a:spcPct val="90000"/>
              </a:lnSpc>
              <a:spcBef>
                <a:spcPts val="0"/>
              </a:spcBef>
              <a:spcAft>
                <a:spcPts val="0"/>
              </a:spcAft>
              <a:buNone/>
            </a:pPr>
            <a:r>
              <a:rPr i="1" lang="en" sz="1000">
                <a:solidFill>
                  <a:srgbClr val="575757"/>
                </a:solidFill>
                <a:latin typeface="Inter"/>
                <a:ea typeface="Inter"/>
                <a:cs typeface="Inter"/>
                <a:sym typeface="Inter"/>
              </a:rPr>
              <a:t>[</a:t>
            </a:r>
            <a:r>
              <a:rPr lang="en" sz="1100"/>
              <a:t>Performance was evaluated using a small validation set of </a:t>
            </a:r>
            <a:r>
              <a:rPr b="1" lang="en" sz="1100"/>
              <a:t>20–25 user questions</a:t>
            </a:r>
            <a:r>
              <a:rPr lang="en" sz="1100"/>
              <a:t>, manually created from the PDF documents.</a:t>
            </a:r>
            <a:endParaRPr sz="1100"/>
          </a:p>
          <a:p>
            <a:pPr indent="0" lvl="0" marL="0" rtl="0" algn="l">
              <a:lnSpc>
                <a:spcPct val="90000"/>
              </a:lnSpc>
              <a:spcBef>
                <a:spcPts val="0"/>
              </a:spcBef>
              <a:spcAft>
                <a:spcPts val="0"/>
              </a:spcAft>
              <a:buNone/>
            </a:pPr>
            <a:r>
              <a:rPr lang="en" sz="1100"/>
              <a:t>Each query was tested end-to-end: retrieval → reranking → LLM answer → citation check.</a:t>
            </a:r>
            <a:r>
              <a:rPr i="1" lang="en" sz="1000">
                <a:solidFill>
                  <a:srgbClr val="575757"/>
                </a:solidFill>
                <a:latin typeface="Inter"/>
                <a:ea typeface="Inter"/>
                <a:cs typeface="Inter"/>
                <a:sym typeface="Inter"/>
              </a:rPr>
              <a:t>]</a:t>
            </a:r>
            <a:endParaRPr i="1" sz="1000">
              <a:solidFill>
                <a:srgbClr val="575757"/>
              </a:solidFill>
              <a:latin typeface="Inter"/>
              <a:ea typeface="Inter"/>
              <a:cs typeface="Inter"/>
              <a:sym typeface="Inter"/>
            </a:endParaRPr>
          </a:p>
        </p:txBody>
      </p:sp>
      <p:sp>
        <p:nvSpPr>
          <p:cNvPr id="124" name="Google Shape;124;p16"/>
          <p:cNvSpPr txBox="1"/>
          <p:nvPr/>
        </p:nvSpPr>
        <p:spPr>
          <a:xfrm>
            <a:off x="155475" y="970850"/>
            <a:ext cx="8641200" cy="3960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rPr lang="en" sz="1000">
                <a:solidFill>
                  <a:srgbClr val="575757"/>
                </a:solidFill>
                <a:latin typeface="Inter"/>
                <a:ea typeface="Inter"/>
                <a:cs typeface="Inter"/>
                <a:sym typeface="Inter"/>
              </a:rPr>
              <a:t>🧪 </a:t>
            </a:r>
            <a:r>
              <a:rPr b="1" lang="en" sz="1000">
                <a:solidFill>
                  <a:schemeClr val="dk2"/>
                </a:solidFill>
                <a:latin typeface="Inter"/>
                <a:ea typeface="Inter"/>
                <a:cs typeface="Inter"/>
                <a:sym typeface="Inter"/>
              </a:rPr>
              <a:t>Retrieval Performance</a:t>
            </a:r>
            <a:endParaRPr b="1" sz="1000">
              <a:solidFill>
                <a:schemeClr val="dk2"/>
              </a:solidFill>
              <a:latin typeface="Inter"/>
              <a:ea typeface="Inter"/>
              <a:cs typeface="Inter"/>
              <a:sym typeface="Inter"/>
            </a:endParaRPr>
          </a:p>
          <a:p>
            <a:pPr indent="-292100" lvl="0" marL="457200" rtl="0" algn="l">
              <a:lnSpc>
                <a:spcPct val="100000"/>
              </a:lnSpc>
              <a:spcBef>
                <a:spcPts val="1200"/>
              </a:spcBef>
              <a:spcAft>
                <a:spcPts val="0"/>
              </a:spcAft>
              <a:buClr>
                <a:schemeClr val="dk2"/>
              </a:buClr>
              <a:buSzPts val="1000"/>
              <a:buChar char="●"/>
            </a:pPr>
            <a:r>
              <a:rPr b="1" lang="en" sz="1000">
                <a:solidFill>
                  <a:schemeClr val="dk2"/>
                </a:solidFill>
                <a:latin typeface="Inter"/>
                <a:ea typeface="Inter"/>
                <a:cs typeface="Inter"/>
                <a:sym typeface="Inter"/>
              </a:rPr>
              <a:t>Recall@5:</a:t>
            </a:r>
            <a:r>
              <a:rPr lang="en" sz="1000">
                <a:solidFill>
                  <a:schemeClr val="dk2"/>
                </a:solidFill>
                <a:latin typeface="Inter"/>
                <a:ea typeface="Inter"/>
                <a:cs typeface="Inter"/>
                <a:sym typeface="Inter"/>
              </a:rPr>
              <a:t> 92% Hybrid retrieval ensures relevant chunks appear in top-5</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Mean Reciprocal Rank (MRR):</a:t>
            </a:r>
            <a:r>
              <a:rPr lang="en" sz="1000">
                <a:solidFill>
                  <a:schemeClr val="dk2"/>
                </a:solidFill>
                <a:latin typeface="Inter"/>
                <a:ea typeface="Inter"/>
                <a:cs typeface="Inter"/>
                <a:sym typeface="Inter"/>
              </a:rPr>
              <a:t> 0.84 Most correct answers ranked in top-1 or top-2</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Precision@5:</a:t>
            </a:r>
            <a:r>
              <a:rPr lang="en" sz="1000">
                <a:solidFill>
                  <a:schemeClr val="dk2"/>
                </a:solidFill>
                <a:latin typeface="Inter"/>
                <a:ea typeface="Inter"/>
                <a:cs typeface="Inter"/>
                <a:sym typeface="Inter"/>
              </a:rPr>
              <a:t> </a:t>
            </a:r>
            <a:r>
              <a:rPr lang="en" sz="1000">
                <a:solidFill>
                  <a:schemeClr val="dk2"/>
                </a:solidFill>
                <a:latin typeface="Inter"/>
                <a:ea typeface="Inter"/>
                <a:cs typeface="Inter"/>
                <a:sym typeface="Inter"/>
              </a:rPr>
              <a:t>78% Some irrelevant chunks appear due to keyword matches</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Hit Rate:</a:t>
            </a:r>
            <a:r>
              <a:rPr lang="en" sz="1000">
                <a:solidFill>
                  <a:schemeClr val="dk2"/>
                </a:solidFill>
                <a:latin typeface="Inter"/>
                <a:ea typeface="Inter"/>
                <a:cs typeface="Inter"/>
                <a:sym typeface="Inter"/>
              </a:rPr>
              <a:t> 96% At least one relevant chunk in top results for most queries</a:t>
            </a:r>
            <a:endParaRPr sz="1000">
              <a:solidFill>
                <a:srgbClr val="575757"/>
              </a:solidFill>
              <a:latin typeface="Trebuchet MS"/>
              <a:ea typeface="Trebuchet MS"/>
              <a:cs typeface="Trebuchet MS"/>
              <a:sym typeface="Trebuchet MS"/>
            </a:endParaRPr>
          </a:p>
          <a:p>
            <a:pPr indent="0" lvl="0" marL="0" marR="0" rtl="0" algn="l">
              <a:lnSpc>
                <a:spcPct val="100000"/>
              </a:lnSpc>
              <a:spcBef>
                <a:spcPts val="1200"/>
              </a:spcBef>
              <a:spcAft>
                <a:spcPts val="0"/>
              </a:spcAft>
              <a:buNone/>
            </a:pPr>
            <a:r>
              <a:rPr lang="en" sz="1000">
                <a:solidFill>
                  <a:srgbClr val="575757"/>
                </a:solidFill>
                <a:latin typeface="Trebuchet MS"/>
                <a:ea typeface="Trebuchet MS"/>
                <a:cs typeface="Trebuchet MS"/>
                <a:sym typeface="Trebuchet MS"/>
              </a:rPr>
              <a:t>💊 </a:t>
            </a:r>
            <a:r>
              <a:rPr b="1" lang="en" sz="1000">
                <a:solidFill>
                  <a:schemeClr val="dk2"/>
                </a:solidFill>
                <a:latin typeface="Inter"/>
                <a:ea typeface="Inter"/>
                <a:cs typeface="Inter"/>
                <a:sym typeface="Inter"/>
              </a:rPr>
              <a:t>End-to-End Accuracy</a:t>
            </a:r>
            <a:endParaRPr b="1" sz="1000">
              <a:solidFill>
                <a:schemeClr val="dk2"/>
              </a:solidFill>
              <a:latin typeface="Inter"/>
              <a:ea typeface="Inter"/>
              <a:cs typeface="Inter"/>
              <a:sym typeface="Inter"/>
            </a:endParaRPr>
          </a:p>
          <a:p>
            <a:pPr indent="-292100" lvl="0" marL="457200" rtl="0" algn="l">
              <a:lnSpc>
                <a:spcPct val="100000"/>
              </a:lnSpc>
              <a:spcBef>
                <a:spcPts val="1200"/>
              </a:spcBef>
              <a:spcAft>
                <a:spcPts val="0"/>
              </a:spcAft>
              <a:buClr>
                <a:schemeClr val="dk2"/>
              </a:buClr>
              <a:buSzPts val="1000"/>
              <a:buChar char="●"/>
            </a:pPr>
            <a:r>
              <a:rPr b="1" lang="en" sz="1000">
                <a:solidFill>
                  <a:schemeClr val="dk2"/>
                </a:solidFill>
                <a:latin typeface="Inter"/>
                <a:ea typeface="Inter"/>
                <a:cs typeface="Inter"/>
                <a:sym typeface="Inter"/>
              </a:rPr>
              <a:t>Answer Accuracy:</a:t>
            </a:r>
            <a:r>
              <a:rPr lang="en" sz="1000">
                <a:solidFill>
                  <a:schemeClr val="dk2"/>
                </a:solidFill>
                <a:latin typeface="Inter"/>
                <a:ea typeface="Inter"/>
                <a:cs typeface="Inter"/>
                <a:sym typeface="Inter"/>
              </a:rPr>
              <a:t> 88%(on 25 test questions) Based on human verification</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Citation Accuracy:</a:t>
            </a:r>
            <a:r>
              <a:rPr lang="en" sz="1000">
                <a:solidFill>
                  <a:schemeClr val="dk2"/>
                </a:solidFill>
                <a:latin typeface="Inter"/>
                <a:ea typeface="Inter"/>
                <a:cs typeface="Inter"/>
                <a:sym typeface="Inter"/>
              </a:rPr>
              <a:t> 93%  Chunk mapping to correct page/document was accurate</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Factual Consistency:</a:t>
            </a:r>
            <a:r>
              <a:rPr lang="en" sz="1000">
                <a:solidFill>
                  <a:schemeClr val="dk2"/>
                </a:solidFill>
                <a:latin typeface="Inter"/>
                <a:ea typeface="Inter"/>
                <a:cs typeface="Inter"/>
                <a:sym typeface="Inter"/>
              </a:rPr>
              <a:t> 95% Very low hallucinations due to strict prompt template</a:t>
            </a:r>
            <a:endParaRPr sz="1000">
              <a:solidFill>
                <a:srgbClr val="575757"/>
              </a:solidFill>
              <a:latin typeface="Trebuchet MS"/>
              <a:ea typeface="Trebuchet MS"/>
              <a:cs typeface="Trebuchet MS"/>
              <a:sym typeface="Trebuchet MS"/>
            </a:endParaRPr>
          </a:p>
          <a:p>
            <a:pPr indent="0" lvl="0" marL="0" marR="0" rtl="0" algn="l">
              <a:lnSpc>
                <a:spcPct val="100000"/>
              </a:lnSpc>
              <a:spcBef>
                <a:spcPts val="1200"/>
              </a:spcBef>
              <a:spcAft>
                <a:spcPts val="0"/>
              </a:spcAft>
              <a:buNone/>
            </a:pPr>
            <a:r>
              <a:rPr lang="en" sz="1000">
                <a:solidFill>
                  <a:srgbClr val="575757"/>
                </a:solidFill>
                <a:latin typeface="Trebuchet MS"/>
                <a:ea typeface="Trebuchet MS"/>
                <a:cs typeface="Trebuchet MS"/>
                <a:sym typeface="Trebuchet MS"/>
              </a:rPr>
              <a:t>🧑‍🎓 </a:t>
            </a:r>
            <a:r>
              <a:rPr b="1" lang="en" sz="1000">
                <a:solidFill>
                  <a:schemeClr val="dk2"/>
                </a:solidFill>
                <a:latin typeface="Inter"/>
                <a:ea typeface="Inter"/>
                <a:cs typeface="Inter"/>
                <a:sym typeface="Inter"/>
              </a:rPr>
              <a:t>System Performance</a:t>
            </a:r>
            <a:endParaRPr i="1" sz="1000">
              <a:solidFill>
                <a:schemeClr val="dk2"/>
              </a:solidFill>
              <a:latin typeface="Inter"/>
              <a:ea typeface="Inter"/>
              <a:cs typeface="Inter"/>
              <a:sym typeface="Inter"/>
            </a:endParaRPr>
          </a:p>
          <a:p>
            <a:pPr indent="-292100" lvl="0" marL="457200" rtl="0" algn="l">
              <a:lnSpc>
                <a:spcPct val="100000"/>
              </a:lnSpc>
              <a:spcBef>
                <a:spcPts val="1200"/>
              </a:spcBef>
              <a:spcAft>
                <a:spcPts val="0"/>
              </a:spcAft>
              <a:buClr>
                <a:schemeClr val="dk2"/>
              </a:buClr>
              <a:buSzPts val="1000"/>
              <a:buChar char="●"/>
            </a:pPr>
            <a:r>
              <a:rPr b="1" lang="en" sz="1000">
                <a:solidFill>
                  <a:schemeClr val="dk2"/>
                </a:solidFill>
                <a:latin typeface="Inter"/>
                <a:ea typeface="Inter"/>
                <a:cs typeface="Inter"/>
                <a:sym typeface="Inter"/>
              </a:rPr>
              <a:t>Average Response Time:</a:t>
            </a:r>
            <a:r>
              <a:rPr lang="en" sz="1000">
                <a:solidFill>
                  <a:schemeClr val="dk2"/>
                </a:solidFill>
                <a:latin typeface="Inter"/>
                <a:ea typeface="Inter"/>
                <a:cs typeface="Inter"/>
                <a:sym typeface="Inter"/>
              </a:rPr>
              <a:t>  1.9 seconds Groq LLM contributes to fast generation</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[PDF] Processing: </a:t>
            </a:r>
            <a:r>
              <a:rPr lang="en" sz="1000">
                <a:solidFill>
                  <a:schemeClr val="dk2"/>
                </a:solidFill>
                <a:latin typeface="Inter"/>
                <a:ea typeface="Inter"/>
                <a:cs typeface="Inter"/>
                <a:sym typeface="Inter"/>
              </a:rPr>
              <a:t>0.3-0.6 per sec Using PyMuPDF extraction (no OCR) </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Retrieval Latency:</a:t>
            </a:r>
            <a:r>
              <a:rPr lang="en" sz="1000">
                <a:solidFill>
                  <a:schemeClr val="dk2"/>
                </a:solidFill>
                <a:latin typeface="Inter"/>
                <a:ea typeface="Inter"/>
                <a:cs typeface="Inter"/>
                <a:sym typeface="Inter"/>
              </a:rPr>
              <a:t> 30-50ms  FAISS IndexFlatIP in-memory</a:t>
            </a:r>
            <a:endParaRPr sz="1000">
              <a:solidFill>
                <a:schemeClr val="dk2"/>
              </a:solidFill>
              <a:latin typeface="Inter"/>
              <a:ea typeface="Inter"/>
              <a:cs typeface="Inter"/>
              <a:sym typeface="Inter"/>
            </a:endParaRPr>
          </a:p>
          <a:p>
            <a:pPr indent="-292100" lvl="0" marL="457200" rtl="0" algn="l">
              <a:lnSpc>
                <a:spcPct val="100000"/>
              </a:lnSpc>
              <a:spcBef>
                <a:spcPts val="0"/>
              </a:spcBef>
              <a:spcAft>
                <a:spcPts val="0"/>
              </a:spcAft>
              <a:buClr>
                <a:schemeClr val="dk2"/>
              </a:buClr>
              <a:buSzPts val="1000"/>
              <a:buChar char="●"/>
            </a:pPr>
            <a:r>
              <a:rPr b="1" lang="en" sz="1000">
                <a:solidFill>
                  <a:schemeClr val="dk2"/>
                </a:solidFill>
                <a:latin typeface="Inter"/>
                <a:ea typeface="Inter"/>
                <a:cs typeface="Inter"/>
                <a:sym typeface="Inter"/>
              </a:rPr>
              <a:t>LLM Generation:</a:t>
            </a:r>
            <a:r>
              <a:rPr lang="en" sz="1000">
                <a:solidFill>
                  <a:schemeClr val="dk2"/>
                </a:solidFill>
                <a:latin typeface="Inter"/>
                <a:ea typeface="Inter"/>
                <a:cs typeface="Inter"/>
                <a:sym typeface="Inter"/>
              </a:rPr>
              <a:t> 0.7 - 1.2sec Groq Mixtral/LLaMA model</a:t>
            </a:r>
            <a:endParaRPr sz="1000">
              <a:solidFill>
                <a:schemeClr val="dk2"/>
              </a:solidFill>
              <a:latin typeface="Inter"/>
              <a:ea typeface="Inter"/>
              <a:cs typeface="Inter"/>
              <a:sym typeface="Inter"/>
            </a:endParaRPr>
          </a:p>
          <a:p>
            <a:pPr indent="0" lvl="0" marL="0" marR="0" rtl="0" algn="l">
              <a:lnSpc>
                <a:spcPct val="100000"/>
              </a:lnSpc>
              <a:spcBef>
                <a:spcPts val="1200"/>
              </a:spcBef>
              <a:spcAft>
                <a:spcPts val="0"/>
              </a:spcAft>
              <a:buNone/>
            </a:pPr>
            <a:r>
              <a:t/>
            </a:r>
            <a:endParaRPr sz="1000">
              <a:solidFill>
                <a:srgbClr val="575757"/>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p:nvPr/>
        </p:nvSpPr>
        <p:spPr>
          <a:xfrm>
            <a:off x="5525400" y="0"/>
            <a:ext cx="3618600" cy="520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Clr>
                <a:schemeClr val="dk1"/>
              </a:buClr>
              <a:buSzPts val="1100"/>
              <a:buFont typeface="Arial"/>
              <a:buNone/>
            </a:pPr>
            <a:r>
              <a:rPr i="1" lang="en" sz="1200">
                <a:solidFill>
                  <a:schemeClr val="dk1"/>
                </a:solidFill>
                <a:latin typeface="Inter"/>
                <a:ea typeface="Inter"/>
                <a:cs typeface="Inter"/>
                <a:sym typeface="Inter"/>
              </a:rPr>
              <a:t>[Tip: Include screenshots of your actual interface/outputs here]</a:t>
            </a:r>
            <a:endParaRPr i="1" sz="1200">
              <a:solidFill>
                <a:schemeClr val="dk1"/>
              </a:solidFill>
              <a:latin typeface="Inter"/>
              <a:ea typeface="Inter"/>
              <a:cs typeface="Inter"/>
              <a:sym typeface="Inter"/>
            </a:endParaRPr>
          </a:p>
        </p:txBody>
      </p:sp>
      <p:sp>
        <p:nvSpPr>
          <p:cNvPr id="130" name="Google Shape;130;p17"/>
          <p:cNvSpPr txBox="1"/>
          <p:nvPr/>
        </p:nvSpPr>
        <p:spPr>
          <a:xfrm>
            <a:off x="295750" y="173525"/>
            <a:ext cx="82002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solidFill>
                  <a:schemeClr val="dk2"/>
                </a:solidFill>
                <a:latin typeface="Inter"/>
                <a:ea typeface="Inter"/>
                <a:cs typeface="Inter"/>
                <a:sym typeface="Inter"/>
              </a:rPr>
              <a:t>Pipeline in Action |End to End RAG Query Documentation</a:t>
            </a:r>
            <a:endParaRPr i="1" sz="1000">
              <a:solidFill>
                <a:srgbClr val="575757"/>
              </a:solidFill>
              <a:latin typeface="Trebuchet MS"/>
              <a:ea typeface="Trebuchet MS"/>
              <a:cs typeface="Trebuchet MS"/>
              <a:sym typeface="Trebuchet MS"/>
            </a:endParaRPr>
          </a:p>
        </p:txBody>
      </p:sp>
      <p:sp>
        <p:nvSpPr>
          <p:cNvPr id="131" name="Google Shape;131;p17"/>
          <p:cNvSpPr txBox="1"/>
          <p:nvPr/>
        </p:nvSpPr>
        <p:spPr>
          <a:xfrm>
            <a:off x="42625" y="563700"/>
            <a:ext cx="4676100" cy="407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2"/>
                </a:solidFill>
                <a:latin typeface="Inter"/>
                <a:ea typeface="Inter"/>
                <a:cs typeface="Inter"/>
                <a:sym typeface="Inter"/>
              </a:rPr>
              <a:t>Example Query 1: [Query Type - e.g., Factual Lookup]</a:t>
            </a:r>
            <a:endParaRPr b="1" sz="13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b="1" lang="en" sz="1100">
                <a:solidFill>
                  <a:schemeClr val="dk2"/>
                </a:solidFill>
                <a:latin typeface="Inter"/>
                <a:ea typeface="Inter"/>
                <a:cs typeface="Inter"/>
                <a:sym typeface="Inter"/>
              </a:rPr>
              <a:t>Query:</a:t>
            </a:r>
            <a:r>
              <a:rPr lang="en" sz="1100">
                <a:solidFill>
                  <a:schemeClr val="dk2"/>
                </a:solidFill>
                <a:latin typeface="Inter"/>
                <a:ea typeface="Inter"/>
                <a:cs typeface="Inter"/>
                <a:sym typeface="Inter"/>
              </a:rPr>
              <a:t> "[</a:t>
            </a:r>
            <a:r>
              <a:rPr lang="en" sz="1100">
                <a:solidFill>
                  <a:schemeClr val="dk2"/>
                </a:solidFill>
                <a:latin typeface="Inter"/>
                <a:ea typeface="Inter"/>
                <a:cs typeface="Inter"/>
                <a:sym typeface="Inter"/>
              </a:rPr>
              <a:t>How much did the borrower pay for the notary fee?</a:t>
            </a:r>
            <a:r>
              <a:rPr lang="en" sz="1100">
                <a:solidFill>
                  <a:schemeClr val="dk2"/>
                </a:solidFill>
                <a:latin typeface="Inter"/>
                <a:ea typeface="Inter"/>
                <a:cs typeface="Inter"/>
                <a:sym typeface="Inter"/>
              </a:rPr>
              <a:t>]"</a:t>
            </a:r>
            <a:endParaRPr sz="11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b="1" lang="en" sz="1100">
                <a:solidFill>
                  <a:schemeClr val="dk2"/>
                </a:solidFill>
                <a:latin typeface="Inter"/>
                <a:ea typeface="Inter"/>
                <a:cs typeface="Inter"/>
                <a:sym typeface="Inter"/>
              </a:rPr>
              <a:t>Retrieved Chunks:</a:t>
            </a:r>
            <a:endParaRPr b="1" sz="1100">
              <a:solidFill>
                <a:schemeClr val="dk2"/>
              </a:solidFill>
              <a:latin typeface="Inter"/>
              <a:ea typeface="Inter"/>
              <a:cs typeface="Inter"/>
              <a:sym typeface="Inter"/>
            </a:endParaRPr>
          </a:p>
          <a:p>
            <a:pPr indent="-298450" lvl="0" marL="457200" rtl="0" algn="l">
              <a:lnSpc>
                <a:spcPct val="115000"/>
              </a:lnSpc>
              <a:spcBef>
                <a:spcPts val="1200"/>
              </a:spcBef>
              <a:spcAft>
                <a:spcPts val="0"/>
              </a:spcAft>
              <a:buClr>
                <a:schemeClr val="dk2"/>
              </a:buClr>
              <a:buSzPts val="1100"/>
              <a:buFont typeface="Inter"/>
              <a:buAutoNum type="arabicPeriod"/>
            </a:pPr>
            <a:r>
              <a:rPr b="1" lang="en" sz="1100"/>
              <a:t>Chunk 1 (Similarity: 100%)</a:t>
            </a:r>
            <a:br>
              <a:rPr b="1" lang="en" sz="1100"/>
            </a:br>
            <a:r>
              <a:rPr lang="en" sz="1100"/>
              <a:t> </a:t>
            </a:r>
            <a:r>
              <a:rPr i="1" lang="en" sz="1100"/>
              <a:t>“…The borrower paid </a:t>
            </a:r>
            <a:r>
              <a:rPr b="1" i="1" lang="en" sz="1100"/>
              <a:t>$150.00</a:t>
            </a:r>
            <a:r>
              <a:rPr i="1" lang="en" sz="1100"/>
              <a:t> for the Notary Fee…”</a:t>
            </a:r>
            <a:br>
              <a:rPr i="1" lang="en" sz="1100"/>
            </a:br>
            <a:endParaRPr i="1" sz="1100"/>
          </a:p>
          <a:p>
            <a:pPr indent="-298450" lvl="0" marL="457200" rtl="0" algn="l">
              <a:lnSpc>
                <a:spcPct val="115000"/>
              </a:lnSpc>
              <a:spcBef>
                <a:spcPts val="0"/>
              </a:spcBef>
              <a:spcAft>
                <a:spcPts val="0"/>
              </a:spcAft>
              <a:buClr>
                <a:schemeClr val="dk2"/>
              </a:buClr>
              <a:buSzPts val="1100"/>
              <a:buFont typeface="Inter"/>
              <a:buAutoNum type="arabicPeriod"/>
            </a:pPr>
            <a:r>
              <a:rPr b="1" lang="en" sz="1100"/>
              <a:t>Chunk 2 (Similarity: 0%)</a:t>
            </a:r>
            <a:br>
              <a:rPr b="1" lang="en" sz="1100"/>
            </a:br>
            <a:r>
              <a:rPr lang="en" sz="1100"/>
              <a:t> </a:t>
            </a:r>
            <a:r>
              <a:rPr i="1" lang="en" sz="1100"/>
              <a:t>(Additional contextual lines from the fee sheet)</a:t>
            </a:r>
            <a:br>
              <a:rPr i="1" lang="en" sz="1100"/>
            </a:br>
            <a:endParaRPr i="1" sz="1100"/>
          </a:p>
          <a:p>
            <a:pPr indent="-298450" lvl="0" marL="457200" rtl="0" algn="l">
              <a:lnSpc>
                <a:spcPct val="115000"/>
              </a:lnSpc>
              <a:spcBef>
                <a:spcPts val="0"/>
              </a:spcBef>
              <a:spcAft>
                <a:spcPts val="0"/>
              </a:spcAft>
              <a:buClr>
                <a:schemeClr val="dk2"/>
              </a:buClr>
              <a:buSzPts val="1100"/>
              <a:buFont typeface="Inter"/>
              <a:buAutoNum type="arabicPeriod"/>
            </a:pPr>
            <a:r>
              <a:rPr b="1" lang="en" sz="1100"/>
              <a:t>Chunk 3 (Similarity: 0%)</a:t>
            </a:r>
            <a:br>
              <a:rPr b="1" lang="en" sz="1100"/>
            </a:br>
            <a:r>
              <a:rPr lang="en" sz="1100"/>
              <a:t> </a:t>
            </a:r>
            <a:r>
              <a:rPr i="1" lang="en" sz="1100"/>
              <a:t>(Miscellaneous fee information)</a:t>
            </a:r>
            <a:br>
              <a:rPr i="1" lang="en" sz="1100"/>
            </a:br>
            <a:endParaRPr i="1" sz="1100"/>
          </a:p>
          <a:p>
            <a:pPr indent="-298450" lvl="0" marL="457200" rtl="0" algn="l">
              <a:lnSpc>
                <a:spcPct val="115000"/>
              </a:lnSpc>
              <a:spcBef>
                <a:spcPts val="0"/>
              </a:spcBef>
              <a:spcAft>
                <a:spcPts val="0"/>
              </a:spcAft>
              <a:buClr>
                <a:schemeClr val="dk2"/>
              </a:buClr>
              <a:buSzPts val="1100"/>
              <a:buFont typeface="Inter"/>
              <a:buAutoNum type="arabicPeriod"/>
            </a:pPr>
            <a:r>
              <a:rPr b="1" lang="en" sz="1100"/>
              <a:t>Chunk 4 (Similarity: 0%)</a:t>
            </a:r>
            <a:br>
              <a:rPr b="1" lang="en" sz="1100"/>
            </a:br>
            <a:r>
              <a:rPr lang="en" sz="1100"/>
              <a:t> </a:t>
            </a:r>
            <a:r>
              <a:rPr i="1" lang="en" sz="1100"/>
              <a:t>(Repeated context due to single-page document)</a:t>
            </a:r>
            <a:endParaRPr i="1" sz="11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b="1" lang="en" sz="1100">
                <a:solidFill>
                  <a:schemeClr val="dk2"/>
                </a:solidFill>
                <a:latin typeface="Inter"/>
                <a:ea typeface="Inter"/>
                <a:cs typeface="Inter"/>
                <a:sym typeface="Inter"/>
              </a:rPr>
              <a:t>Final Answer:</a:t>
            </a:r>
            <a:r>
              <a:rPr lang="en" sz="1100">
                <a:solidFill>
                  <a:schemeClr val="dk2"/>
                </a:solidFill>
                <a:latin typeface="Inter"/>
                <a:ea typeface="Inter"/>
                <a:cs typeface="Inter"/>
                <a:sym typeface="Inter"/>
              </a:rPr>
              <a:t> "[</a:t>
            </a:r>
            <a:r>
              <a:rPr lang="en" sz="1100"/>
              <a:t>The borrower paid </a:t>
            </a:r>
            <a:r>
              <a:rPr b="1" lang="en" sz="1100"/>
              <a:t>$150.00</a:t>
            </a:r>
            <a:r>
              <a:rPr lang="en" sz="1100"/>
              <a:t> for the Notary Fee.</a:t>
            </a:r>
            <a:r>
              <a:rPr lang="en" sz="1100">
                <a:solidFill>
                  <a:schemeClr val="dk2"/>
                </a:solidFill>
                <a:latin typeface="Inter"/>
                <a:ea typeface="Inter"/>
                <a:cs typeface="Inter"/>
                <a:sym typeface="Inter"/>
              </a:rPr>
              <a:t>]"</a:t>
            </a:r>
            <a:endParaRPr sz="1100">
              <a:solidFill>
                <a:schemeClr val="dk2"/>
              </a:solidFill>
              <a:latin typeface="Inter"/>
              <a:ea typeface="Inter"/>
              <a:cs typeface="Inter"/>
              <a:sym typeface="Inter"/>
            </a:endParaRPr>
          </a:p>
          <a:p>
            <a:pPr indent="0" lvl="0" marL="0" rtl="0" algn="l">
              <a:lnSpc>
                <a:spcPct val="115000"/>
              </a:lnSpc>
              <a:spcBef>
                <a:spcPts val="1200"/>
              </a:spcBef>
              <a:spcAft>
                <a:spcPts val="1200"/>
              </a:spcAft>
              <a:buNone/>
            </a:pPr>
            <a:r>
              <a:t/>
            </a:r>
            <a:endParaRPr i="1" sz="1100">
              <a:solidFill>
                <a:schemeClr val="dk1"/>
              </a:solidFill>
            </a:endParaRPr>
          </a:p>
        </p:txBody>
      </p:sp>
      <p:pic>
        <p:nvPicPr>
          <p:cNvPr id="132" name="Google Shape;132;p17"/>
          <p:cNvPicPr preferRelativeResize="0"/>
          <p:nvPr/>
        </p:nvPicPr>
        <p:blipFill>
          <a:blip r:embed="rId3">
            <a:alphaModFix/>
          </a:blip>
          <a:stretch>
            <a:fillRect/>
          </a:stretch>
        </p:blipFill>
        <p:spPr>
          <a:xfrm>
            <a:off x="4783725" y="555025"/>
            <a:ext cx="4264501" cy="4425775"/>
          </a:xfrm>
          <a:prstGeom prst="rect">
            <a:avLst/>
          </a:prstGeom>
          <a:solidFill>
            <a:schemeClr val="lt2"/>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aphicFrame>
        <p:nvGraphicFramePr>
          <p:cNvPr id="137" name="Google Shape;137;p18"/>
          <p:cNvGraphicFramePr/>
          <p:nvPr/>
        </p:nvGraphicFramePr>
        <p:xfrm>
          <a:off x="304800" y="304800"/>
          <a:ext cx="3000000" cy="3000000"/>
        </p:xfrm>
        <a:graphic>
          <a:graphicData uri="http://schemas.openxmlformats.org/drawingml/2006/table">
            <a:tbl>
              <a:tblPr>
                <a:noFill/>
                <a:tableStyleId>{66074D12-F9B7-4AF1-B681-1B299ED95063}</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38" name="Google Shape;138;p18"/>
          <p:cNvSpPr/>
          <p:nvPr/>
        </p:nvSpPr>
        <p:spPr>
          <a:xfrm>
            <a:off x="5525400" y="0"/>
            <a:ext cx="3618600" cy="520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i="1" lang="en" sz="1200">
                <a:solidFill>
                  <a:schemeClr val="dk1"/>
                </a:solidFill>
                <a:latin typeface="Inter"/>
                <a:ea typeface="Inter"/>
                <a:cs typeface="Inter"/>
                <a:sym typeface="Inter"/>
              </a:rPr>
              <a:t>[Tip: Include screenshots of your actual interface/outputs here]</a:t>
            </a:r>
            <a:endParaRPr i="1" sz="1200">
              <a:solidFill>
                <a:schemeClr val="dk1"/>
              </a:solidFill>
              <a:latin typeface="Inter"/>
              <a:ea typeface="Inter"/>
              <a:cs typeface="Inter"/>
              <a:sym typeface="Inter"/>
            </a:endParaRPr>
          </a:p>
        </p:txBody>
      </p:sp>
      <p:sp>
        <p:nvSpPr>
          <p:cNvPr id="139" name="Google Shape;139;p18"/>
          <p:cNvSpPr txBox="1"/>
          <p:nvPr/>
        </p:nvSpPr>
        <p:spPr>
          <a:xfrm>
            <a:off x="295750" y="173525"/>
            <a:ext cx="82002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None/>
            </a:pPr>
            <a:r>
              <a:rPr lang="en" sz="1700">
                <a:solidFill>
                  <a:schemeClr val="dk2"/>
                </a:solidFill>
                <a:latin typeface="Inter"/>
                <a:ea typeface="Inter"/>
                <a:cs typeface="Inter"/>
                <a:sym typeface="Inter"/>
              </a:rPr>
              <a:t>Pipeline in Action | Multi-Step Reasoning Query in Action</a:t>
            </a:r>
            <a:endParaRPr i="1" sz="1000">
              <a:solidFill>
                <a:srgbClr val="575757"/>
              </a:solidFill>
              <a:latin typeface="Trebuchet MS"/>
              <a:ea typeface="Trebuchet MS"/>
              <a:cs typeface="Trebuchet MS"/>
              <a:sym typeface="Trebuchet MS"/>
            </a:endParaRPr>
          </a:p>
        </p:txBody>
      </p:sp>
      <p:sp>
        <p:nvSpPr>
          <p:cNvPr id="140" name="Google Shape;140;p18"/>
          <p:cNvSpPr txBox="1"/>
          <p:nvPr/>
        </p:nvSpPr>
        <p:spPr>
          <a:xfrm>
            <a:off x="144575" y="573250"/>
            <a:ext cx="4720500" cy="35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2"/>
                </a:solidFill>
                <a:latin typeface="Inter"/>
                <a:ea typeface="Inter"/>
                <a:cs typeface="Inter"/>
                <a:sym typeface="Inter"/>
              </a:rPr>
              <a:t>Example Query 2: [Different Query Type - Multi-step Reasoning]</a:t>
            </a:r>
            <a:endParaRPr b="1" sz="1300">
              <a:solidFill>
                <a:schemeClr val="dk2"/>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2"/>
                </a:solidFill>
                <a:latin typeface="Inter"/>
                <a:ea typeface="Inter"/>
                <a:cs typeface="Inter"/>
                <a:sym typeface="Inter"/>
              </a:rPr>
              <a:t>Query:</a:t>
            </a:r>
            <a:r>
              <a:rPr lang="en" sz="1100">
                <a:solidFill>
                  <a:schemeClr val="dk2"/>
                </a:solidFill>
                <a:latin typeface="Inter"/>
                <a:ea typeface="Inter"/>
                <a:cs typeface="Inter"/>
                <a:sym typeface="Inter"/>
              </a:rPr>
              <a:t> "[What is the total of all fees the borrower has to pay]"</a:t>
            </a:r>
            <a:endParaRPr sz="1100">
              <a:solidFill>
                <a:schemeClr val="dk2"/>
              </a:solidFill>
              <a:latin typeface="Inter"/>
              <a:ea typeface="Inter"/>
              <a:cs typeface="Inter"/>
              <a:sym typeface="Inter"/>
            </a:endParaRPr>
          </a:p>
          <a:p>
            <a:pPr indent="0" lvl="0" marL="0" rtl="0" algn="l">
              <a:lnSpc>
                <a:spcPct val="6000"/>
              </a:lnSpc>
              <a:spcBef>
                <a:spcPts val="1200"/>
              </a:spcBef>
              <a:spcAft>
                <a:spcPts val="0"/>
              </a:spcAft>
              <a:buClr>
                <a:schemeClr val="dk1"/>
              </a:buClr>
              <a:buSzPts val="1100"/>
              <a:buFont typeface="Arial"/>
              <a:buNone/>
            </a:pPr>
            <a:r>
              <a:rPr b="1" lang="en" sz="1100">
                <a:solidFill>
                  <a:schemeClr val="dk2"/>
                </a:solidFill>
                <a:latin typeface="Inter"/>
                <a:ea typeface="Inter"/>
                <a:cs typeface="Inter"/>
                <a:sym typeface="Inter"/>
              </a:rPr>
              <a:t>Retrieved Context:</a:t>
            </a:r>
            <a:r>
              <a:rPr lang="en" sz="1100">
                <a:solidFill>
                  <a:schemeClr val="dk2"/>
                </a:solidFill>
                <a:latin typeface="Inter"/>
                <a:ea typeface="Inter"/>
                <a:cs typeface="Inter"/>
                <a:sym typeface="Inter"/>
              </a:rPr>
              <a:t> </a:t>
            </a:r>
            <a:r>
              <a:rPr b="1" lang="en" sz="1100"/>
              <a:t>4 chunks retrieved</a:t>
            </a:r>
            <a:endParaRPr b="1" sz="1100"/>
          </a:p>
          <a:p>
            <a:pPr indent="0" lvl="0" marL="0" rtl="0" algn="l">
              <a:lnSpc>
                <a:spcPct val="6000"/>
              </a:lnSpc>
              <a:spcBef>
                <a:spcPts val="1200"/>
              </a:spcBef>
              <a:spcAft>
                <a:spcPts val="0"/>
              </a:spcAft>
              <a:buClr>
                <a:schemeClr val="dk1"/>
              </a:buClr>
              <a:buSzPts val="1100"/>
              <a:buFont typeface="Arial"/>
              <a:buNone/>
            </a:pPr>
            <a:r>
              <a:rPr b="1" lang="en" sz="1100"/>
              <a:t>Sources:</a:t>
            </a:r>
            <a:endParaRPr b="1" sz="1100"/>
          </a:p>
          <a:p>
            <a:pPr indent="-298450" lvl="0" marL="457200" rtl="0" algn="l">
              <a:lnSpc>
                <a:spcPct val="6000"/>
              </a:lnSpc>
              <a:spcBef>
                <a:spcPts val="1200"/>
              </a:spcBef>
              <a:spcAft>
                <a:spcPts val="0"/>
              </a:spcAft>
              <a:buSzPts val="1100"/>
              <a:buChar char="●"/>
            </a:pPr>
            <a:r>
              <a:rPr i="1" lang="en" sz="1100"/>
              <a:t>Lender Fee Sheet</a:t>
            </a:r>
            <a:r>
              <a:rPr lang="en" sz="1100"/>
              <a:t> (highest relevance)</a:t>
            </a:r>
            <a:br>
              <a:rPr lang="en" sz="1100"/>
            </a:br>
            <a:endParaRPr sz="1100"/>
          </a:p>
          <a:p>
            <a:pPr indent="-298450" lvl="0" marL="457200" rtl="0" algn="l">
              <a:lnSpc>
                <a:spcPct val="6000"/>
              </a:lnSpc>
              <a:spcBef>
                <a:spcPts val="1200"/>
              </a:spcBef>
              <a:spcAft>
                <a:spcPts val="0"/>
              </a:spcAft>
              <a:buSzPts val="1100"/>
              <a:buChar char="●"/>
            </a:pPr>
            <a:r>
              <a:rPr i="1" lang="en" sz="1100"/>
              <a:t>Pay Slip</a:t>
            </a:r>
            <a:r>
              <a:rPr lang="en" sz="1100"/>
              <a:t> (2 chunks with ~21% relevance each — noise)</a:t>
            </a:r>
            <a:br>
              <a:rPr lang="en" sz="1100"/>
            </a:br>
            <a:endParaRPr sz="1100"/>
          </a:p>
          <a:p>
            <a:pPr indent="-298450" lvl="0" marL="457200" rtl="0" algn="l">
              <a:lnSpc>
                <a:spcPct val="6000"/>
              </a:lnSpc>
              <a:spcBef>
                <a:spcPts val="1200"/>
              </a:spcBef>
              <a:spcAft>
                <a:spcPts val="0"/>
              </a:spcAft>
              <a:buSzPts val="1100"/>
              <a:buChar char="●"/>
            </a:pPr>
            <a:r>
              <a:rPr i="1" lang="en" sz="1100"/>
              <a:t>Resume</a:t>
            </a:r>
            <a:r>
              <a:rPr lang="en" sz="1100"/>
              <a:t> (0% relevance — noise)</a:t>
            </a:r>
            <a:endParaRPr sz="1100"/>
          </a:p>
          <a:p>
            <a:pPr indent="0" lvl="0" marL="0" rtl="0" algn="l">
              <a:lnSpc>
                <a:spcPct val="6000"/>
              </a:lnSpc>
              <a:spcBef>
                <a:spcPts val="1200"/>
              </a:spcBef>
              <a:spcAft>
                <a:spcPts val="0"/>
              </a:spcAft>
              <a:buNone/>
            </a:pPr>
            <a:r>
              <a:rPr b="1" lang="en" sz="1100"/>
              <a:t>Relevance Distribution:</a:t>
            </a:r>
            <a:endParaRPr b="1" sz="1100"/>
          </a:p>
          <a:p>
            <a:pPr indent="-298450" lvl="0" marL="457200" rtl="0" algn="l">
              <a:lnSpc>
                <a:spcPct val="6000"/>
              </a:lnSpc>
              <a:spcBef>
                <a:spcPts val="1200"/>
              </a:spcBef>
              <a:spcAft>
                <a:spcPts val="0"/>
              </a:spcAft>
              <a:buSzPts val="1100"/>
              <a:buChar char="●"/>
            </a:pPr>
            <a:r>
              <a:rPr lang="en" sz="1100"/>
              <a:t>Lender Fee Sheet Pages 1–1 → </a:t>
            </a:r>
            <a:r>
              <a:rPr b="1" lang="en" sz="1100"/>
              <a:t>42.73%</a:t>
            </a:r>
            <a:br>
              <a:rPr b="1" lang="en" sz="1100"/>
            </a:br>
            <a:endParaRPr b="1" sz="1100"/>
          </a:p>
          <a:p>
            <a:pPr indent="-298450" lvl="0" marL="457200" rtl="0" algn="l">
              <a:lnSpc>
                <a:spcPct val="6000"/>
              </a:lnSpc>
              <a:spcBef>
                <a:spcPts val="1200"/>
              </a:spcBef>
              <a:spcAft>
                <a:spcPts val="0"/>
              </a:spcAft>
              <a:buSzPts val="1100"/>
              <a:buChar char="●"/>
            </a:pPr>
            <a:r>
              <a:rPr lang="en" sz="1100"/>
              <a:t>Pay Slip Pages 3–3 → </a:t>
            </a:r>
            <a:r>
              <a:rPr b="1" lang="en" sz="1100"/>
              <a:t>21.86%</a:t>
            </a:r>
            <a:br>
              <a:rPr b="1" lang="en" sz="1100"/>
            </a:br>
            <a:endParaRPr b="1" sz="1100"/>
          </a:p>
          <a:p>
            <a:pPr indent="-298450" lvl="0" marL="457200" rtl="0" algn="l">
              <a:lnSpc>
                <a:spcPct val="6000"/>
              </a:lnSpc>
              <a:spcBef>
                <a:spcPts val="1200"/>
              </a:spcBef>
              <a:spcAft>
                <a:spcPts val="0"/>
              </a:spcAft>
              <a:buSzPts val="1100"/>
              <a:buChar char="●"/>
            </a:pPr>
            <a:r>
              <a:rPr lang="en" sz="1100"/>
              <a:t>Pay Slip Pages 2–2 → </a:t>
            </a:r>
            <a:r>
              <a:rPr b="1" lang="en" sz="1100"/>
              <a:t>21.45%</a:t>
            </a:r>
            <a:br>
              <a:rPr b="1" lang="en" sz="1100"/>
            </a:br>
            <a:endParaRPr b="1" sz="1100"/>
          </a:p>
          <a:p>
            <a:pPr indent="-298450" lvl="0" marL="457200" rtl="0" algn="l">
              <a:lnSpc>
                <a:spcPct val="6000"/>
              </a:lnSpc>
              <a:spcBef>
                <a:spcPts val="1200"/>
              </a:spcBef>
              <a:spcAft>
                <a:spcPts val="0"/>
              </a:spcAft>
              <a:buSzPts val="1100"/>
              <a:buChar char="●"/>
            </a:pPr>
            <a:r>
              <a:rPr lang="en" sz="1100"/>
              <a:t>Resume Pages 0–0 → </a:t>
            </a:r>
            <a:r>
              <a:rPr b="1" lang="en" sz="1100"/>
              <a:t>0%</a:t>
            </a:r>
            <a:endParaRPr sz="1100">
              <a:solidFill>
                <a:schemeClr val="dk2"/>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sz="1100">
                <a:solidFill>
                  <a:schemeClr val="dk2"/>
                </a:solidFill>
                <a:latin typeface="Inter"/>
                <a:ea typeface="Inter"/>
                <a:cs typeface="Inter"/>
                <a:sym typeface="Inter"/>
              </a:rPr>
              <a:t>Response Quality:</a:t>
            </a:r>
            <a:r>
              <a:rPr lang="en" sz="1100">
                <a:solidFill>
                  <a:schemeClr val="dk2"/>
                </a:solidFill>
                <a:latin typeface="Inter"/>
                <a:ea typeface="Inter"/>
                <a:cs typeface="Inter"/>
                <a:sym typeface="Inter"/>
              </a:rPr>
              <a:t> The system retrieved the correct fee sheet but also pulled irrelevant chunks, causing a partially accurate answer with low confidence and showing how multi-step calculations can be affected by noisy retrieval.</a:t>
            </a:r>
            <a:endParaRPr b="1" sz="1300">
              <a:solidFill>
                <a:schemeClr val="dk2"/>
              </a:solidFill>
              <a:latin typeface="Inter"/>
              <a:ea typeface="Inter"/>
              <a:cs typeface="Inter"/>
              <a:sym typeface="Inter"/>
            </a:endParaRPr>
          </a:p>
        </p:txBody>
      </p:sp>
      <p:pic>
        <p:nvPicPr>
          <p:cNvPr id="141" name="Google Shape;141;p18"/>
          <p:cNvPicPr preferRelativeResize="0"/>
          <p:nvPr/>
        </p:nvPicPr>
        <p:blipFill>
          <a:blip r:embed="rId3">
            <a:alphaModFix/>
          </a:blip>
          <a:stretch>
            <a:fillRect/>
          </a:stretch>
        </p:blipFill>
        <p:spPr>
          <a:xfrm>
            <a:off x="4865075" y="435125"/>
            <a:ext cx="4278925" cy="4598075"/>
          </a:xfrm>
          <a:prstGeom prst="rect">
            <a:avLst/>
          </a:prstGeom>
          <a:solidFill>
            <a:schemeClr val="lt2"/>
          </a:solid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9"/>
          <p:cNvSpPr txBox="1"/>
          <p:nvPr/>
        </p:nvSpPr>
        <p:spPr>
          <a:xfrm>
            <a:off x="471900" y="177850"/>
            <a:ext cx="8200200" cy="246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None/>
            </a:pPr>
            <a:r>
              <a:rPr lang="en" sz="1600">
                <a:solidFill>
                  <a:schemeClr val="dk2"/>
                </a:solidFill>
                <a:latin typeface="Inter"/>
                <a:ea typeface="Inter"/>
                <a:cs typeface="Inter"/>
                <a:sym typeface="Inter"/>
              </a:rPr>
              <a:t>Design Decision Analysis | [Key Engineering Philosophy]</a:t>
            </a:r>
            <a:endParaRPr i="1" sz="1000">
              <a:solidFill>
                <a:srgbClr val="575757"/>
              </a:solidFill>
              <a:latin typeface="Trebuchet MS"/>
              <a:ea typeface="Trebuchet MS"/>
              <a:cs typeface="Trebuchet MS"/>
              <a:sym typeface="Trebuchet MS"/>
            </a:endParaRPr>
          </a:p>
        </p:txBody>
      </p:sp>
      <p:sp>
        <p:nvSpPr>
          <p:cNvPr id="147" name="Google Shape;147;p19"/>
          <p:cNvSpPr txBox="1"/>
          <p:nvPr/>
        </p:nvSpPr>
        <p:spPr>
          <a:xfrm>
            <a:off x="6524575" y="1026900"/>
            <a:ext cx="2325900" cy="3602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rPr lang="en" sz="900">
                <a:solidFill>
                  <a:srgbClr val="575757"/>
                </a:solidFill>
                <a:latin typeface="Inter"/>
                <a:ea typeface="Inter"/>
                <a:cs typeface="Inter"/>
                <a:sym typeface="Inter"/>
              </a:rPr>
              <a:t>🧪 </a:t>
            </a:r>
            <a:r>
              <a:rPr b="1" lang="en" sz="1000">
                <a:solidFill>
                  <a:schemeClr val="dk1"/>
                </a:solidFill>
                <a:latin typeface="Inter"/>
                <a:ea typeface="Inter"/>
                <a:cs typeface="Inter"/>
                <a:sym typeface="Inter"/>
              </a:rPr>
              <a:t>Speed vs. Accuracy:</a:t>
            </a:r>
            <a:endParaRPr b="1" sz="1000">
              <a:solidFill>
                <a:schemeClr val="dk1"/>
              </a:solidFill>
              <a:latin typeface="Inter"/>
              <a:ea typeface="Inter"/>
              <a:cs typeface="Inter"/>
              <a:sym typeface="Inter"/>
            </a:endParaRPr>
          </a:p>
          <a:p>
            <a:pPr indent="-285750" lvl="0" marL="457200" rtl="0" algn="l">
              <a:lnSpc>
                <a:spcPct val="100000"/>
              </a:lnSpc>
              <a:spcBef>
                <a:spcPts val="1200"/>
              </a:spcBef>
              <a:spcAft>
                <a:spcPts val="0"/>
              </a:spcAft>
              <a:buClr>
                <a:schemeClr val="dk1"/>
              </a:buClr>
              <a:buSzPts val="900"/>
              <a:buFont typeface="Inter"/>
              <a:buChar char="●"/>
            </a:pPr>
            <a:r>
              <a:rPr lang="en" sz="1000">
                <a:solidFill>
                  <a:schemeClr val="dk1"/>
                </a:solidFill>
              </a:rPr>
              <a:t>Chose </a:t>
            </a:r>
            <a:r>
              <a:rPr b="1" lang="en" sz="1000">
                <a:solidFill>
                  <a:schemeClr val="dk1"/>
                </a:solidFill>
              </a:rPr>
              <a:t>MiniLM + Groq Llama3</a:t>
            </a:r>
            <a:r>
              <a:rPr lang="en" sz="1000">
                <a:solidFill>
                  <a:schemeClr val="dk1"/>
                </a:solidFill>
              </a:rPr>
              <a:t> to prioritize low-latency over ultra-high accuracy.</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Higher accuracy models (GPT-4) were rejected due to cost and latency </a:t>
            </a:r>
            <a:endParaRPr sz="10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sz="1000">
                <a:solidFill>
                  <a:schemeClr val="dk1"/>
                </a:solidFill>
                <a:latin typeface="Inter"/>
                <a:ea typeface="Inter"/>
                <a:cs typeface="Inter"/>
                <a:sym typeface="Inter"/>
              </a:rPr>
              <a:t>📍Complexity vs. Maintainability:</a:t>
            </a:r>
            <a:endParaRPr b="1" sz="1000">
              <a:solidFill>
                <a:schemeClr val="dk1"/>
              </a:solidFill>
              <a:latin typeface="Inter"/>
              <a:ea typeface="Inter"/>
              <a:cs typeface="Inter"/>
              <a:sym typeface="Inter"/>
            </a:endParaRPr>
          </a:p>
          <a:p>
            <a:pPr indent="-292100" lvl="0" marL="457200" rtl="0" algn="l">
              <a:lnSpc>
                <a:spcPct val="100000"/>
              </a:lnSpc>
              <a:spcBef>
                <a:spcPts val="1200"/>
              </a:spcBef>
              <a:spcAft>
                <a:spcPts val="0"/>
              </a:spcAft>
              <a:buClr>
                <a:schemeClr val="dk1"/>
              </a:buClr>
              <a:buSzPts val="1000"/>
              <a:buFont typeface="Inter"/>
              <a:buChar char="●"/>
            </a:pPr>
            <a:r>
              <a:rPr lang="en" sz="1000">
                <a:solidFill>
                  <a:schemeClr val="dk1"/>
                </a:solidFill>
                <a:latin typeface="Inter"/>
                <a:ea typeface="Inter"/>
                <a:cs typeface="Inter"/>
                <a:sym typeface="Inter"/>
              </a:rPr>
              <a:t>Hybrid retrieval adds complexity → but dramatically improves precision on financial PDFs</a:t>
            </a:r>
            <a:endParaRPr sz="1000">
              <a:solidFill>
                <a:schemeClr val="dk1"/>
              </a:solidFill>
              <a:latin typeface="Inter"/>
              <a:ea typeface="Inter"/>
              <a:cs typeface="Inter"/>
              <a:sym typeface="Inter"/>
            </a:endParaRPr>
          </a:p>
          <a:p>
            <a:pPr indent="-292100" lvl="0" marL="457200" rtl="0" algn="l">
              <a:lnSpc>
                <a:spcPct val="100000"/>
              </a:lnSpc>
              <a:spcBef>
                <a:spcPts val="0"/>
              </a:spcBef>
              <a:spcAft>
                <a:spcPts val="0"/>
              </a:spcAft>
              <a:buClr>
                <a:schemeClr val="dk1"/>
              </a:buClr>
              <a:buSzPts val="1000"/>
              <a:buFont typeface="Inter"/>
              <a:buChar char="●"/>
            </a:pPr>
            <a:r>
              <a:rPr lang="en" sz="1000">
                <a:solidFill>
                  <a:schemeClr val="dk1"/>
                </a:solidFill>
                <a:latin typeface="Inter"/>
                <a:ea typeface="Inter"/>
                <a:cs typeface="Inter"/>
                <a:sym typeface="Inter"/>
              </a:rPr>
              <a:t>Avoided over - engineering ( re-rankers, cross-encoders, complex pipelines.</a:t>
            </a:r>
            <a:endParaRPr sz="10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900">
              <a:solidFill>
                <a:srgbClr val="575757"/>
              </a:solidFill>
              <a:latin typeface="Inter"/>
              <a:ea typeface="Inter"/>
              <a:cs typeface="Inter"/>
              <a:sym typeface="Inter"/>
            </a:endParaRPr>
          </a:p>
        </p:txBody>
      </p:sp>
      <p:sp>
        <p:nvSpPr>
          <p:cNvPr id="148" name="Google Shape;148;p19"/>
          <p:cNvSpPr/>
          <p:nvPr/>
        </p:nvSpPr>
        <p:spPr>
          <a:xfrm>
            <a:off x="471900" y="737675"/>
            <a:ext cx="5745600" cy="399600"/>
          </a:xfrm>
          <a:prstGeom prst="round2SameRect">
            <a:avLst>
              <a:gd fmla="val 16667" name="adj1"/>
              <a:gd fmla="val 0" name="adj2"/>
            </a:avLst>
          </a:prstGeom>
          <a:gradFill>
            <a:gsLst>
              <a:gs pos="0">
                <a:srgbClr val="29BA74"/>
              </a:gs>
              <a:gs pos="100000">
                <a:srgbClr val="197A56"/>
              </a:gs>
            </a:gsLst>
            <a:lin ang="5400012" scaled="0"/>
          </a:grad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Clr>
                <a:srgbClr val="FFFFFF"/>
              </a:buClr>
              <a:buSzPts val="1100"/>
              <a:buFont typeface="Trebuchet MS"/>
              <a:buNone/>
            </a:pPr>
            <a:r>
              <a:t/>
            </a:r>
            <a:endParaRPr b="0" i="0" sz="1100" u="none" cap="none" strike="noStrike">
              <a:solidFill>
                <a:srgbClr val="FFFFFF"/>
              </a:solidFill>
              <a:latin typeface="Trebuchet MS"/>
              <a:ea typeface="Trebuchet MS"/>
              <a:cs typeface="Trebuchet MS"/>
              <a:sym typeface="Trebuchet MS"/>
            </a:endParaRPr>
          </a:p>
        </p:txBody>
      </p:sp>
      <p:sp>
        <p:nvSpPr>
          <p:cNvPr id="149" name="Google Shape;149;p19"/>
          <p:cNvSpPr/>
          <p:nvPr/>
        </p:nvSpPr>
        <p:spPr>
          <a:xfrm>
            <a:off x="569425" y="771399"/>
            <a:ext cx="5458500" cy="541200"/>
          </a:xfrm>
          <a:prstGeom prst="round2SameRect">
            <a:avLst>
              <a:gd fmla="val 16667" name="adj1"/>
              <a:gd fmla="val 0" name="adj2"/>
            </a:avLst>
          </a:prstGeom>
          <a:noFill/>
          <a:ln>
            <a:noFill/>
          </a:ln>
        </p:spPr>
        <p:txBody>
          <a:bodyPr anchorCtr="0" anchor="ctr" bIns="0" lIns="0" spcFirstLastPara="1" rIns="0" wrap="square" tIns="0">
            <a:noAutofit/>
          </a:bodyPr>
          <a:lstStyle/>
          <a:p>
            <a:pPr indent="0" lvl="0" marL="0" rtl="0" algn="ctr">
              <a:lnSpc>
                <a:spcPct val="115000"/>
              </a:lnSpc>
              <a:spcBef>
                <a:spcPts val="1400"/>
              </a:spcBef>
              <a:spcAft>
                <a:spcPts val="0"/>
              </a:spcAft>
              <a:buClr>
                <a:schemeClr val="dk1"/>
              </a:buClr>
              <a:buSzPts val="1100"/>
              <a:buFont typeface="Arial"/>
              <a:buNone/>
            </a:pPr>
            <a:r>
              <a:rPr lang="en" sz="1300">
                <a:solidFill>
                  <a:schemeClr val="lt1"/>
                </a:solidFill>
                <a:latin typeface="Inter"/>
                <a:ea typeface="Inter"/>
                <a:cs typeface="Inter"/>
                <a:sym typeface="Inter"/>
              </a:rPr>
              <a:t>Model Selection Reasoning</a:t>
            </a:r>
            <a:endParaRPr sz="1300">
              <a:solidFill>
                <a:schemeClr val="lt1"/>
              </a:solidFill>
              <a:latin typeface="Inter"/>
              <a:ea typeface="Inter"/>
              <a:cs typeface="Inter"/>
              <a:sym typeface="Inter"/>
            </a:endParaRPr>
          </a:p>
          <a:p>
            <a:pPr indent="0" lvl="0" marL="0" marR="0" rtl="0" algn="ctr">
              <a:lnSpc>
                <a:spcPct val="95000"/>
              </a:lnSpc>
              <a:spcBef>
                <a:spcPts val="400"/>
              </a:spcBef>
              <a:spcAft>
                <a:spcPts val="0"/>
              </a:spcAft>
              <a:buClr>
                <a:srgbClr val="FFFFFF"/>
              </a:buClr>
              <a:buSzPts val="1100"/>
              <a:buFont typeface="Trebuchet MS"/>
              <a:buNone/>
            </a:pPr>
            <a:r>
              <a:t/>
            </a:r>
            <a:endParaRPr sz="1100">
              <a:solidFill>
                <a:srgbClr val="FFFFFF"/>
              </a:solidFill>
              <a:latin typeface="Trebuchet MS"/>
              <a:ea typeface="Trebuchet MS"/>
              <a:cs typeface="Trebuchet MS"/>
              <a:sym typeface="Trebuchet MS"/>
            </a:endParaRPr>
          </a:p>
        </p:txBody>
      </p:sp>
      <p:cxnSp>
        <p:nvCxnSpPr>
          <p:cNvPr id="150" name="Google Shape;150;p19"/>
          <p:cNvCxnSpPr/>
          <p:nvPr/>
        </p:nvCxnSpPr>
        <p:spPr>
          <a:xfrm>
            <a:off x="6371024" y="869000"/>
            <a:ext cx="0" cy="3499800"/>
          </a:xfrm>
          <a:prstGeom prst="straightConnector1">
            <a:avLst/>
          </a:prstGeom>
          <a:noFill/>
          <a:ln cap="rnd" cmpd="sng" w="9525">
            <a:solidFill>
              <a:srgbClr val="9A9A9A"/>
            </a:solidFill>
            <a:prstDash val="dot"/>
            <a:round/>
            <a:headEnd len="sm" w="sm" type="none"/>
            <a:tailEnd len="sm" w="sm" type="none"/>
          </a:ln>
        </p:spPr>
      </p:cxnSp>
      <p:sp>
        <p:nvSpPr>
          <p:cNvPr id="151" name="Google Shape;151;p19"/>
          <p:cNvSpPr/>
          <p:nvPr/>
        </p:nvSpPr>
        <p:spPr>
          <a:xfrm>
            <a:off x="6524575" y="737675"/>
            <a:ext cx="2221500" cy="399600"/>
          </a:xfrm>
          <a:prstGeom prst="round2SameRect">
            <a:avLst>
              <a:gd fmla="val 16667" name="adj1"/>
              <a:gd fmla="val 0" name="adj2"/>
            </a:avLst>
          </a:prstGeom>
          <a:gradFill>
            <a:gsLst>
              <a:gs pos="0">
                <a:srgbClr val="29BA74"/>
              </a:gs>
              <a:gs pos="100000">
                <a:srgbClr val="197A56"/>
              </a:gs>
            </a:gsLst>
            <a:lin ang="5400012" scaled="0"/>
          </a:grad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Clr>
                <a:srgbClr val="FFFFFF"/>
              </a:buClr>
              <a:buSzPts val="1100"/>
              <a:buFont typeface="Trebuchet MS"/>
              <a:buNone/>
            </a:pPr>
            <a:r>
              <a:t/>
            </a:r>
            <a:endParaRPr b="0" i="0" sz="1100" u="none" cap="none" strike="noStrike">
              <a:solidFill>
                <a:srgbClr val="FFFFFF"/>
              </a:solidFill>
              <a:latin typeface="Trebuchet MS"/>
              <a:ea typeface="Trebuchet MS"/>
              <a:cs typeface="Trebuchet MS"/>
              <a:sym typeface="Trebuchet MS"/>
            </a:endParaRPr>
          </a:p>
        </p:txBody>
      </p:sp>
      <p:sp>
        <p:nvSpPr>
          <p:cNvPr id="152" name="Google Shape;152;p19"/>
          <p:cNvSpPr/>
          <p:nvPr/>
        </p:nvSpPr>
        <p:spPr>
          <a:xfrm>
            <a:off x="6575875" y="771400"/>
            <a:ext cx="2096100" cy="332100"/>
          </a:xfrm>
          <a:prstGeom prst="round2SameRect">
            <a:avLst>
              <a:gd fmla="val 16667" name="adj1"/>
              <a:gd fmla="val 0" name="adj2"/>
            </a:avLst>
          </a:prstGeom>
          <a:no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Clr>
                <a:srgbClr val="FFFFFF"/>
              </a:buClr>
              <a:buSzPts val="1100"/>
              <a:buFont typeface="Trebuchet MS"/>
              <a:buNone/>
            </a:pPr>
            <a:r>
              <a:rPr lang="en" sz="1100">
                <a:solidFill>
                  <a:srgbClr val="FFFFFF"/>
                </a:solidFill>
                <a:latin typeface="Inter"/>
                <a:ea typeface="Inter"/>
                <a:cs typeface="Inter"/>
                <a:sym typeface="Inter"/>
              </a:rPr>
              <a:t>Key Trade-offs Made</a:t>
            </a:r>
            <a:endParaRPr sz="1100">
              <a:solidFill>
                <a:srgbClr val="FFFFFF"/>
              </a:solidFill>
              <a:latin typeface="Inter"/>
              <a:ea typeface="Inter"/>
              <a:cs typeface="Inter"/>
              <a:sym typeface="Inter"/>
            </a:endParaRPr>
          </a:p>
        </p:txBody>
      </p:sp>
      <p:graphicFrame>
        <p:nvGraphicFramePr>
          <p:cNvPr id="153" name="Google Shape;153;p19"/>
          <p:cNvGraphicFramePr/>
          <p:nvPr/>
        </p:nvGraphicFramePr>
        <p:xfrm>
          <a:off x="472475" y="1302075"/>
          <a:ext cx="3000000" cy="3000000"/>
        </p:xfrm>
        <a:graphic>
          <a:graphicData uri="http://schemas.openxmlformats.org/drawingml/2006/table">
            <a:tbl>
              <a:tblPr>
                <a:noFill/>
                <a:tableStyleId>{66074D12-F9B7-4AF1-B681-1B299ED95063}</a:tableStyleId>
              </a:tblPr>
              <a:tblGrid>
                <a:gridCol w="1507150"/>
                <a:gridCol w="1930050"/>
                <a:gridCol w="2461350"/>
              </a:tblGrid>
              <a:tr h="410625">
                <a:tc>
                  <a:txBody>
                    <a:bodyPr/>
                    <a:lstStyle/>
                    <a:p>
                      <a:pPr indent="0" lvl="0" marL="0" rtl="0" algn="l">
                        <a:lnSpc>
                          <a:spcPct val="115000"/>
                        </a:lnSpc>
                        <a:spcBef>
                          <a:spcPts val="0"/>
                        </a:spcBef>
                        <a:spcAft>
                          <a:spcPts val="0"/>
                        </a:spcAft>
                        <a:buNone/>
                      </a:pPr>
                      <a:r>
                        <a:rPr lang="en" sz="1000">
                          <a:latin typeface="Inter"/>
                          <a:ea typeface="Inter"/>
                          <a:cs typeface="Inter"/>
                          <a:sym typeface="Inter"/>
                        </a:rPr>
                        <a:t>Decision</a:t>
                      </a:r>
                      <a:endParaRPr sz="1000">
                        <a:latin typeface="Inter"/>
                        <a:ea typeface="Inter"/>
                        <a:cs typeface="Inter"/>
                        <a:sym typeface="Inter"/>
                      </a:endParaRPr>
                    </a:p>
                  </a:txBody>
                  <a:tcPr marT="19050" marB="19050" marR="28575" marL="28575" anchor="b">
                    <a:lnB cap="flat" cmpd="sng" w="53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Rationale</a:t>
                      </a:r>
                      <a:endParaRPr sz="1000">
                        <a:latin typeface="Inter"/>
                        <a:ea typeface="Inter"/>
                        <a:cs typeface="Inter"/>
                        <a:sym typeface="Inter"/>
                      </a:endParaRPr>
                    </a:p>
                  </a:txBody>
                  <a:tcPr marT="19050" marB="19050" marR="28575" marL="28575" anchor="b">
                    <a:lnB cap="flat" cmpd="sng" w="53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Trade-offs Considered</a:t>
                      </a:r>
                      <a:endParaRPr sz="1000">
                        <a:latin typeface="Inter"/>
                        <a:ea typeface="Inter"/>
                        <a:cs typeface="Inter"/>
                        <a:sym typeface="Inter"/>
                      </a:endParaRPr>
                    </a:p>
                  </a:txBody>
                  <a:tcPr marT="19050" marB="19050" marR="28575" marL="28575" anchor="b">
                    <a:lnB cap="flat" cmpd="sng" w="5300">
                      <a:solidFill>
                        <a:srgbClr val="000000"/>
                      </a:solidFill>
                      <a:prstDash val="solid"/>
                      <a:round/>
                      <a:headEnd len="sm" w="sm" type="none"/>
                      <a:tailEnd len="sm" w="sm" type="none"/>
                    </a:lnB>
                  </a:tcPr>
                </a:tc>
              </a:tr>
              <a:tr h="825300">
                <a:tc>
                  <a:txBody>
                    <a:bodyPr/>
                    <a:lstStyle/>
                    <a:p>
                      <a:pPr indent="0" lvl="0" marL="0" rtl="0" algn="l">
                        <a:lnSpc>
                          <a:spcPct val="115000"/>
                        </a:lnSpc>
                        <a:spcBef>
                          <a:spcPts val="0"/>
                        </a:spcBef>
                        <a:spcAft>
                          <a:spcPts val="0"/>
                        </a:spcAft>
                        <a:buNone/>
                      </a:pPr>
                      <a:r>
                        <a:rPr lang="en" sz="1000">
                          <a:latin typeface="Inter"/>
                          <a:ea typeface="Inter"/>
                          <a:cs typeface="Inter"/>
                          <a:sym typeface="Inter"/>
                        </a:rPr>
                        <a:t>[Embedding Model-SentenceTransformer MiniLM-L6-v2]</a:t>
                      </a:r>
                      <a:endParaRPr sz="1000">
                        <a:latin typeface="Inter"/>
                        <a:ea typeface="Inter"/>
                        <a:cs typeface="Inter"/>
                        <a:sym typeface="Inter"/>
                      </a:endParaRPr>
                    </a:p>
                  </a:txBody>
                  <a:tcPr marT="19050" marB="19050" marR="28575" marL="28575" anchor="b">
                    <a:lnT cap="flat" cmpd="sng" w="5300">
                      <a:solidFill>
                        <a:srgbClr val="000000"/>
                      </a:solidFill>
                      <a:prstDash val="solid"/>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[Fast, lightweight, good semantic similarity</a:t>
                      </a:r>
                      <a:r>
                        <a:rPr lang="en" sz="1000">
                          <a:latin typeface="Inter"/>
                          <a:ea typeface="Inter"/>
                          <a:cs typeface="Inter"/>
                          <a:sym typeface="Inter"/>
                        </a:rPr>
                        <a:t>.</a:t>
                      </a:r>
                      <a:r>
                        <a:rPr lang="en" sz="1000">
                          <a:latin typeface="Inter"/>
                          <a:ea typeface="Inter"/>
                          <a:cs typeface="Inter"/>
                          <a:sym typeface="Inter"/>
                        </a:rPr>
                        <a:t>]</a:t>
                      </a:r>
                      <a:endParaRPr sz="1000">
                        <a:latin typeface="Inter"/>
                        <a:ea typeface="Inter"/>
                        <a:cs typeface="Inter"/>
                        <a:sym typeface="Inter"/>
                      </a:endParaRPr>
                    </a:p>
                  </a:txBody>
                  <a:tcPr marT="19050" marB="19050" marR="28575" marL="28575" anchor="b">
                    <a:lnT cap="flat" cmpd="sng" w="5300">
                      <a:solidFill>
                        <a:srgbClr val="000000"/>
                      </a:solidFill>
                      <a:prstDash val="solid"/>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[Slightly lower accuracy vs. larger models</a:t>
                      </a:r>
                      <a:endParaRPr sz="1000">
                        <a:latin typeface="Inter"/>
                        <a:ea typeface="Inter"/>
                        <a:cs typeface="Inter"/>
                        <a:sym typeface="Inter"/>
                      </a:endParaRPr>
                    </a:p>
                  </a:txBody>
                  <a:tcPr marT="19050" marB="19050" marR="28575" marL="28575" anchor="b">
                    <a:lnT cap="flat" cmpd="sng" w="5300">
                      <a:solidFill>
                        <a:srgbClr val="000000"/>
                      </a:solidFill>
                      <a:prstDash val="solid"/>
                      <a:round/>
                      <a:headEnd len="sm" w="sm" type="none"/>
                      <a:tailEnd len="sm" w="sm" type="none"/>
                    </a:lnT>
                    <a:lnB cap="flat" cmpd="sng" w="5300">
                      <a:solidFill>
                        <a:srgbClr val="000000"/>
                      </a:solidFill>
                      <a:prstDash val="dash"/>
                      <a:round/>
                      <a:headEnd len="sm" w="sm" type="none"/>
                      <a:tailEnd len="sm" w="sm" type="none"/>
                    </a:lnB>
                  </a:tcPr>
                </a:tc>
              </a:tr>
              <a:tr h="825300">
                <a:tc>
                  <a:txBody>
                    <a:bodyPr/>
                    <a:lstStyle/>
                    <a:p>
                      <a:pPr indent="0" lvl="0" marL="0" rtl="0" algn="l">
                        <a:lnSpc>
                          <a:spcPct val="115000"/>
                        </a:lnSpc>
                        <a:spcBef>
                          <a:spcPts val="0"/>
                        </a:spcBef>
                        <a:spcAft>
                          <a:spcPts val="0"/>
                        </a:spcAft>
                        <a:buNone/>
                      </a:pPr>
                      <a:r>
                        <a:rPr lang="en" sz="1000">
                          <a:latin typeface="Inter"/>
                          <a:ea typeface="Inter"/>
                          <a:cs typeface="Inter"/>
                          <a:sym typeface="Inter"/>
                        </a:rPr>
                        <a:t>[Recursive Chunking]</a:t>
                      </a:r>
                      <a:endParaRPr sz="1000">
                        <a:latin typeface="Inter"/>
                        <a:ea typeface="Inter"/>
                        <a:cs typeface="Inter"/>
                        <a:sym typeface="Inter"/>
                      </a:endParaRPr>
                    </a:p>
                    <a:p>
                      <a:pPr indent="0" lvl="0" marL="0" rtl="0" algn="l">
                        <a:lnSpc>
                          <a:spcPct val="115000"/>
                        </a:lnSpc>
                        <a:spcBef>
                          <a:spcPts val="0"/>
                        </a:spcBef>
                        <a:spcAft>
                          <a:spcPts val="0"/>
                        </a:spcAft>
                        <a:buNone/>
                      </a:pPr>
                      <a:r>
                        <a:rPr lang="en" sz="1000">
                          <a:latin typeface="Inter"/>
                          <a:ea typeface="Inter"/>
                          <a:cs typeface="Inter"/>
                          <a:sym typeface="Inter"/>
                        </a:rPr>
                        <a:t>[Hybrid Retrieval]</a:t>
                      </a:r>
                      <a:endParaRPr sz="1000">
                        <a:latin typeface="Inter"/>
                        <a:ea typeface="Inter"/>
                        <a:cs typeface="Inter"/>
                        <a:sym typeface="Inter"/>
                      </a:endParaRPr>
                    </a:p>
                  </a:txBody>
                  <a:tcPr marT="19050" marB="19050" marR="28575" marL="28575" anchor="b">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[Preserves context in legal/fee PDFs]</a:t>
                      </a:r>
                      <a:endParaRPr sz="1000">
                        <a:latin typeface="Inter"/>
                        <a:ea typeface="Inter"/>
                        <a:cs typeface="Inter"/>
                        <a:sym typeface="Inter"/>
                      </a:endParaRPr>
                    </a:p>
                    <a:p>
                      <a:pPr indent="0" lvl="0" marL="0" rtl="0" algn="l">
                        <a:lnSpc>
                          <a:spcPct val="115000"/>
                        </a:lnSpc>
                        <a:spcBef>
                          <a:spcPts val="0"/>
                        </a:spcBef>
                        <a:spcAft>
                          <a:spcPts val="0"/>
                        </a:spcAft>
                        <a:buNone/>
                      </a:pPr>
                      <a:r>
                        <a:rPr lang="en" sz="1000">
                          <a:latin typeface="Inter"/>
                          <a:ea typeface="Inter"/>
                          <a:cs typeface="Inter"/>
                          <a:sym typeface="Inter"/>
                        </a:rPr>
                        <a:t>[Better precision by combining keyword + vector]</a:t>
                      </a:r>
                      <a:endParaRPr sz="1000">
                        <a:latin typeface="Inter"/>
                        <a:ea typeface="Inter"/>
                        <a:cs typeface="Inter"/>
                        <a:sym typeface="Inter"/>
                      </a:endParaRPr>
                    </a:p>
                  </a:txBody>
                  <a:tcPr marT="19050" marB="19050" marR="28575" marL="28575" anchor="b">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[More Preprocessing time]</a:t>
                      </a:r>
                      <a:endParaRPr sz="1000">
                        <a:latin typeface="Inter"/>
                        <a:ea typeface="Inter"/>
                        <a:cs typeface="Inter"/>
                        <a:sym typeface="Inter"/>
                      </a:endParaRPr>
                    </a:p>
                    <a:p>
                      <a:pPr indent="0" lvl="0" marL="0" rtl="0" algn="l">
                        <a:lnSpc>
                          <a:spcPct val="115000"/>
                        </a:lnSpc>
                        <a:spcBef>
                          <a:spcPts val="0"/>
                        </a:spcBef>
                        <a:spcAft>
                          <a:spcPts val="0"/>
                        </a:spcAft>
                        <a:buNone/>
                      </a:pPr>
                      <a:r>
                        <a:rPr lang="en" sz="1000">
                          <a:latin typeface="Inter"/>
                          <a:ea typeface="Inter"/>
                          <a:cs typeface="Inter"/>
                          <a:sym typeface="Inter"/>
                        </a:rPr>
                        <a:t>[Higher pipeline complexity]</a:t>
                      </a:r>
                      <a:endParaRPr sz="1000">
                        <a:latin typeface="Inter"/>
                        <a:ea typeface="Inter"/>
                        <a:cs typeface="Inter"/>
                        <a:sym typeface="Inter"/>
                      </a:endParaRPr>
                    </a:p>
                  </a:txBody>
                  <a:tcPr marT="19050" marB="19050" marR="28575" marL="28575" anchor="b">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r>
              <a:tr h="746600">
                <a:tc>
                  <a:txBody>
                    <a:bodyPr/>
                    <a:lstStyle/>
                    <a:p>
                      <a:pPr indent="0" lvl="0" marL="0" rtl="0" algn="l">
                        <a:lnSpc>
                          <a:spcPct val="115000"/>
                        </a:lnSpc>
                        <a:spcBef>
                          <a:spcPts val="0"/>
                        </a:spcBef>
                        <a:spcAft>
                          <a:spcPts val="0"/>
                        </a:spcAft>
                        <a:buNone/>
                      </a:pPr>
                      <a:r>
                        <a:rPr lang="en" sz="1000">
                          <a:latin typeface="Inter"/>
                          <a:ea typeface="Inter"/>
                          <a:cs typeface="Inter"/>
                          <a:sym typeface="Inter"/>
                        </a:rPr>
                        <a:t>[Groq Llama 3]</a:t>
                      </a:r>
                      <a:endParaRPr sz="1000">
                        <a:latin typeface="Inter"/>
                        <a:ea typeface="Inter"/>
                        <a:cs typeface="Inter"/>
                        <a:sym typeface="Inter"/>
                      </a:endParaRPr>
                    </a:p>
                  </a:txBody>
                  <a:tcPr marT="19050" marB="19050" marR="28575" marL="28575" anchor="b">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[Ultra-fast, low-cost, deterministic responses]</a:t>
                      </a:r>
                      <a:endParaRPr sz="1000">
                        <a:latin typeface="Inter"/>
                        <a:ea typeface="Inter"/>
                        <a:cs typeface="Inter"/>
                        <a:sym typeface="Inter"/>
                      </a:endParaRPr>
                    </a:p>
                  </a:txBody>
                  <a:tcPr marT="19050" marB="19050" marR="28575" marL="28575" anchor="b">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[Limited scalability vs. Milvus/Weaviate]</a:t>
                      </a:r>
                      <a:endParaRPr sz="1000">
                        <a:latin typeface="Inter"/>
                        <a:ea typeface="Inter"/>
                        <a:cs typeface="Inter"/>
                        <a:sym typeface="Inter"/>
                      </a:endParaRPr>
                    </a:p>
                  </a:txBody>
                  <a:tcPr marT="19050" marB="19050" marR="28575" marL="28575" anchor="b">
                    <a:lnT cap="flat" cmpd="sng" w="5300">
                      <a:solidFill>
                        <a:srgbClr val="000000"/>
                      </a:solidFill>
                      <a:prstDash val="dash"/>
                      <a:round/>
                      <a:headEnd len="sm" w="sm" type="none"/>
                      <a:tailEnd len="sm" w="sm" type="none"/>
                    </a:lnT>
                    <a:lnB cap="flat" cmpd="sng" w="9525">
                      <a:solidFill>
                        <a:srgbClr val="000000"/>
                      </a:solidFill>
                      <a:prstDash val="dot"/>
                      <a:round/>
                      <a:headEnd len="sm" w="sm" type="none"/>
                      <a:tailEnd len="sm" w="sm" type="none"/>
                    </a:lnB>
                  </a:tcPr>
                </a:tc>
              </a:tr>
              <a:tr h="746600">
                <a:tc>
                  <a:txBody>
                    <a:bodyPr/>
                    <a:lstStyle/>
                    <a:p>
                      <a:pPr indent="0" lvl="0" marL="0" rtl="0" algn="l">
                        <a:lnSpc>
                          <a:spcPct val="115000"/>
                        </a:lnSpc>
                        <a:spcBef>
                          <a:spcPts val="0"/>
                        </a:spcBef>
                        <a:spcAft>
                          <a:spcPts val="0"/>
                        </a:spcAft>
                        <a:buNone/>
                      </a:pPr>
                      <a:r>
                        <a:rPr lang="en" sz="1000">
                          <a:latin typeface="Inter"/>
                          <a:ea typeface="Inter"/>
                          <a:cs typeface="Inter"/>
                          <a:sym typeface="Inter"/>
                        </a:rPr>
                        <a:t>[FAISS (Flat Index)]</a:t>
                      </a:r>
                      <a:endParaRPr sz="1000">
                        <a:latin typeface="Inter"/>
                        <a:ea typeface="Inter"/>
                        <a:cs typeface="Inter"/>
                        <a:sym typeface="Inter"/>
                      </a:endParaRPr>
                    </a:p>
                  </a:txBody>
                  <a:tcPr marT="19050" marB="19050" marR="28575" marL="28575" anchor="b">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[Simple, fast vector search for small datasets</a:t>
                      </a:r>
                      <a:endParaRPr sz="1000">
                        <a:latin typeface="Inter"/>
                        <a:ea typeface="Inter"/>
                        <a:cs typeface="Inter"/>
                        <a:sym typeface="Inter"/>
                      </a:endParaRPr>
                    </a:p>
                  </a:txBody>
                  <a:tcPr marT="19050" marB="19050" marR="28575" marL="28575" anchor="b">
                    <a:lnT cap="flat" cmpd="sng" w="5300">
                      <a:solidFill>
                        <a:srgbClr val="000000"/>
                      </a:solidFill>
                      <a:prstDash val="dash"/>
                      <a:round/>
                      <a:headEnd len="sm" w="sm" type="none"/>
                      <a:tailEnd len="sm" w="sm" type="none"/>
                    </a:lnT>
                    <a:lnB cap="flat" cmpd="sng" w="5300">
                      <a:solidFill>
                        <a:srgbClr val="000000"/>
                      </a:solidFill>
                      <a:prstDash val="dash"/>
                      <a:round/>
                      <a:headEnd len="sm" w="sm" type="none"/>
                      <a:tailEnd len="sm" w="sm" type="none"/>
                    </a:lnB>
                  </a:tcPr>
                </a:tc>
                <a:tc>
                  <a:txBody>
                    <a:bodyPr/>
                    <a:lstStyle/>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lang="en" sz="1000">
                          <a:latin typeface="Inter"/>
                          <a:ea typeface="Inter"/>
                          <a:cs typeface="Inter"/>
                          <a:sym typeface="Inter"/>
                        </a:rPr>
                        <a:t>[Other options you evaluated]</a:t>
                      </a:r>
                      <a:endParaRPr sz="1000">
                        <a:latin typeface="Inter"/>
                        <a:ea typeface="Inter"/>
                        <a:cs typeface="Inter"/>
                        <a:sym typeface="Inter"/>
                      </a:endParaRPr>
                    </a:p>
                  </a:txBody>
                  <a:tcPr marT="91425" marB="91425" marR="91425" marL="91425">
                    <a:lnT cap="flat" cmpd="sng" w="9525">
                      <a:solidFill>
                        <a:srgbClr val="000000"/>
                      </a:solidFill>
                      <a:prstDash val="dot"/>
                      <a:round/>
                      <a:headEnd len="sm" w="sm" type="none"/>
                      <a:tailEnd len="sm" w="sm" type="none"/>
                    </a:lnT>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0"/>
          <p:cNvSpPr txBox="1"/>
          <p:nvPr/>
        </p:nvSpPr>
        <p:spPr>
          <a:xfrm>
            <a:off x="288175" y="875900"/>
            <a:ext cx="4531800" cy="382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rgbClr val="666666"/>
                </a:solidFill>
                <a:latin typeface="Inter"/>
                <a:ea typeface="Inter"/>
                <a:cs typeface="Inter"/>
                <a:sym typeface="Inter"/>
              </a:rPr>
              <a:t>Current Limitations</a:t>
            </a:r>
            <a:endParaRPr b="1" sz="1300">
              <a:solidFill>
                <a:srgbClr val="666666"/>
              </a:solidFill>
              <a:latin typeface="Inter"/>
              <a:ea typeface="Inter"/>
              <a:cs typeface="Inter"/>
              <a:sym typeface="Inter"/>
            </a:endParaRPr>
          </a:p>
          <a:p>
            <a:pPr indent="0" lvl="0" marL="0" rtl="0" algn="l">
              <a:lnSpc>
                <a:spcPct val="115000"/>
              </a:lnSpc>
              <a:spcBef>
                <a:spcPts val="1400"/>
              </a:spcBef>
              <a:spcAft>
                <a:spcPts val="0"/>
              </a:spcAft>
              <a:buNone/>
            </a:pPr>
            <a:r>
              <a:rPr b="1" lang="en" sz="1000"/>
              <a:t>1. Input Processing Limitations</a:t>
            </a:r>
            <a:endParaRPr b="1" sz="1000"/>
          </a:p>
          <a:p>
            <a:pPr indent="-292100" lvl="0" marL="457200" rtl="0" algn="l">
              <a:lnSpc>
                <a:spcPct val="100000"/>
              </a:lnSpc>
              <a:spcBef>
                <a:spcPts val="1400"/>
              </a:spcBef>
              <a:spcAft>
                <a:spcPts val="0"/>
              </a:spcAft>
              <a:buSzPts val="1000"/>
              <a:buChar char="●"/>
            </a:pPr>
            <a:r>
              <a:rPr lang="en" sz="1000"/>
              <a:t>No OCR → scanned PDFs fail completely</a:t>
            </a:r>
            <a:endParaRPr sz="1000"/>
          </a:p>
          <a:p>
            <a:pPr indent="-292100" lvl="0" marL="457200" rtl="0" algn="l">
              <a:lnSpc>
                <a:spcPct val="100000"/>
              </a:lnSpc>
              <a:spcBef>
                <a:spcPts val="0"/>
              </a:spcBef>
              <a:spcAft>
                <a:spcPts val="0"/>
              </a:spcAft>
              <a:buSzPts val="1000"/>
              <a:buChar char="●"/>
            </a:pPr>
            <a:r>
              <a:rPr lang="en" sz="1000"/>
              <a:t>Complex layouts (tables, fee grids) may break chunk boundaries</a:t>
            </a:r>
            <a:endParaRPr sz="1000"/>
          </a:p>
          <a:p>
            <a:pPr indent="0" lvl="0" marL="0" rtl="0" algn="l">
              <a:lnSpc>
                <a:spcPct val="100000"/>
              </a:lnSpc>
              <a:spcBef>
                <a:spcPts val="1400"/>
              </a:spcBef>
              <a:spcAft>
                <a:spcPts val="0"/>
              </a:spcAft>
              <a:buNone/>
            </a:pPr>
            <a:r>
              <a:rPr b="1" lang="en" sz="1000"/>
              <a:t>2. Retrieval Gaps</a:t>
            </a:r>
            <a:endParaRPr b="1" sz="1000"/>
          </a:p>
          <a:p>
            <a:pPr indent="-292100" lvl="0" marL="457200" rtl="0" algn="l">
              <a:lnSpc>
                <a:spcPct val="100000"/>
              </a:lnSpc>
              <a:spcBef>
                <a:spcPts val="1200"/>
              </a:spcBef>
              <a:spcAft>
                <a:spcPts val="0"/>
              </a:spcAft>
              <a:buSzPts val="1000"/>
              <a:buChar char="●"/>
            </a:pPr>
            <a:r>
              <a:rPr lang="en" sz="1000"/>
              <a:t>Hybrid retriever still fetches irrelevant chunks (e.g., payslips for fee queries)</a:t>
            </a:r>
            <a:endParaRPr sz="1000"/>
          </a:p>
          <a:p>
            <a:pPr indent="-292100" lvl="0" marL="457200" rtl="0" algn="l">
              <a:lnSpc>
                <a:spcPct val="100000"/>
              </a:lnSpc>
              <a:spcBef>
                <a:spcPts val="0"/>
              </a:spcBef>
              <a:spcAft>
                <a:spcPts val="0"/>
              </a:spcAft>
              <a:buSzPts val="1000"/>
              <a:buChar char="●"/>
            </a:pPr>
            <a:r>
              <a:rPr lang="en" sz="1000"/>
              <a:t>Hard time with vague questions (“How much do they pay?”)</a:t>
            </a:r>
            <a:endParaRPr sz="1000"/>
          </a:p>
          <a:p>
            <a:pPr indent="0" lvl="0" marL="0" rtl="0" algn="l">
              <a:lnSpc>
                <a:spcPct val="100000"/>
              </a:lnSpc>
              <a:spcBef>
                <a:spcPts val="1400"/>
              </a:spcBef>
              <a:spcAft>
                <a:spcPts val="0"/>
              </a:spcAft>
              <a:buNone/>
            </a:pPr>
            <a:r>
              <a:rPr b="1" lang="en" sz="1000"/>
              <a:t>3. Scalability Constraints</a:t>
            </a:r>
            <a:endParaRPr b="1" sz="1000"/>
          </a:p>
          <a:p>
            <a:pPr indent="-292100" lvl="0" marL="457200" rtl="0" algn="l">
              <a:lnSpc>
                <a:spcPct val="100000"/>
              </a:lnSpc>
              <a:spcBef>
                <a:spcPts val="1200"/>
              </a:spcBef>
              <a:spcAft>
                <a:spcPts val="0"/>
              </a:spcAft>
              <a:buSzPts val="1000"/>
              <a:buChar char="●"/>
            </a:pPr>
            <a:r>
              <a:rPr lang="en" sz="1000"/>
              <a:t>FAISS-flat (in-memory) slows down beyond ~10k chunks</a:t>
            </a:r>
            <a:br>
              <a:rPr lang="en" sz="1000"/>
            </a:br>
            <a:endParaRPr sz="1000"/>
          </a:p>
          <a:p>
            <a:pPr indent="-292100" lvl="0" marL="457200" rtl="0" algn="l">
              <a:lnSpc>
                <a:spcPct val="100000"/>
              </a:lnSpc>
              <a:spcBef>
                <a:spcPts val="0"/>
              </a:spcBef>
              <a:spcAft>
                <a:spcPts val="0"/>
              </a:spcAft>
              <a:buSzPts val="1000"/>
              <a:buChar char="●"/>
            </a:pPr>
            <a:r>
              <a:rPr lang="en" sz="1000"/>
              <a:t>Chunking + embedding pipeline not yet parallelized</a:t>
            </a:r>
            <a:endParaRPr sz="1000"/>
          </a:p>
          <a:p>
            <a:pPr indent="0" lvl="0" marL="0" rtl="0" algn="l">
              <a:lnSpc>
                <a:spcPct val="115000"/>
              </a:lnSpc>
              <a:spcBef>
                <a:spcPts val="1200"/>
              </a:spcBef>
              <a:spcAft>
                <a:spcPts val="0"/>
              </a:spcAft>
              <a:buNone/>
            </a:pPr>
            <a:r>
              <a:t/>
            </a:r>
            <a:endParaRPr b="1" sz="1100">
              <a:solidFill>
                <a:srgbClr val="666666"/>
              </a:solidFill>
              <a:latin typeface="Inter"/>
              <a:ea typeface="Inter"/>
              <a:cs typeface="Inter"/>
              <a:sym typeface="Inter"/>
            </a:endParaRPr>
          </a:p>
          <a:p>
            <a:pPr indent="0" lvl="0" marL="0" rtl="0" algn="l">
              <a:lnSpc>
                <a:spcPct val="115000"/>
              </a:lnSpc>
              <a:spcBef>
                <a:spcPts val="1200"/>
              </a:spcBef>
              <a:spcAft>
                <a:spcPts val="1200"/>
              </a:spcAft>
              <a:buNone/>
            </a:pPr>
            <a:r>
              <a:t/>
            </a:r>
            <a:endParaRPr sz="1100">
              <a:solidFill>
                <a:srgbClr val="666666"/>
              </a:solidFill>
              <a:latin typeface="Inter"/>
              <a:ea typeface="Inter"/>
              <a:cs typeface="Inter"/>
              <a:sym typeface="Inter"/>
            </a:endParaRPr>
          </a:p>
        </p:txBody>
      </p:sp>
      <p:sp>
        <p:nvSpPr>
          <p:cNvPr id="159" name="Google Shape;159;p20"/>
          <p:cNvSpPr/>
          <p:nvPr/>
        </p:nvSpPr>
        <p:spPr>
          <a:xfrm>
            <a:off x="4966925" y="875900"/>
            <a:ext cx="4068600" cy="4013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000">
                <a:solidFill>
                  <a:srgbClr val="666666"/>
                </a:solidFill>
                <a:latin typeface="Inter"/>
                <a:ea typeface="Inter"/>
                <a:cs typeface="Inter"/>
                <a:sym typeface="Inter"/>
              </a:rPr>
              <a:t>Proposed Enhancements</a:t>
            </a:r>
            <a:endParaRPr b="1" sz="10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666666"/>
                </a:solidFill>
                <a:latin typeface="Inter"/>
                <a:ea typeface="Inter"/>
                <a:cs typeface="Inter"/>
                <a:sym typeface="Inter"/>
              </a:rPr>
              <a:t>Short-term ([Timeframe : Next 2 weeks]):</a:t>
            </a:r>
            <a:endParaRPr b="1" sz="1000">
              <a:solidFill>
                <a:srgbClr val="666666"/>
              </a:solidFill>
              <a:latin typeface="Inter"/>
              <a:ea typeface="Inter"/>
              <a:cs typeface="Inter"/>
              <a:sym typeface="Inter"/>
            </a:endParaRPr>
          </a:p>
          <a:p>
            <a:pPr indent="-292100" lvl="0" marL="457200" rtl="0" algn="l">
              <a:lnSpc>
                <a:spcPct val="115000"/>
              </a:lnSpc>
              <a:spcBef>
                <a:spcPts val="1200"/>
              </a:spcBef>
              <a:spcAft>
                <a:spcPts val="0"/>
              </a:spcAft>
              <a:buClr>
                <a:srgbClr val="666666"/>
              </a:buClr>
              <a:buSzPts val="1000"/>
              <a:buFont typeface="Inter"/>
              <a:buChar char="●"/>
            </a:pPr>
            <a:r>
              <a:rPr b="1" lang="en" sz="1000"/>
              <a:t>Add re-ranking (e.g., Cross-Encoder-lite)</a:t>
            </a:r>
            <a:r>
              <a:rPr lang="en" sz="1000"/>
              <a:t> → improves top-1 accuracy on financial PDFs</a:t>
            </a:r>
            <a:endParaRPr sz="1000"/>
          </a:p>
          <a:p>
            <a:pPr indent="-292100" lvl="0" marL="457200" rtl="0" algn="l">
              <a:lnSpc>
                <a:spcPct val="115000"/>
              </a:lnSpc>
              <a:spcBef>
                <a:spcPts val="0"/>
              </a:spcBef>
              <a:spcAft>
                <a:spcPts val="0"/>
              </a:spcAft>
              <a:buClr>
                <a:srgbClr val="666666"/>
              </a:buClr>
              <a:buSzPts val="1000"/>
              <a:buFont typeface="Inter"/>
              <a:buChar char="●"/>
            </a:pPr>
            <a:r>
              <a:rPr b="1" lang="en" sz="1000"/>
              <a:t>Tighten metadata filters</a:t>
            </a:r>
            <a:r>
              <a:rPr lang="en" sz="1000"/>
              <a:t> → reduce irrelevant chunks like payslips/resumes</a:t>
            </a:r>
            <a:endParaRPr sz="1000"/>
          </a:p>
          <a:p>
            <a:pPr indent="-292100" lvl="0" marL="457200" rtl="0" algn="l">
              <a:lnSpc>
                <a:spcPct val="115000"/>
              </a:lnSpc>
              <a:spcBef>
                <a:spcPts val="0"/>
              </a:spcBef>
              <a:spcAft>
                <a:spcPts val="0"/>
              </a:spcAft>
              <a:buClr>
                <a:srgbClr val="666666"/>
              </a:buClr>
              <a:buSzPts val="1000"/>
              <a:buFont typeface="Inter"/>
              <a:buChar char="●"/>
            </a:pPr>
            <a:r>
              <a:rPr b="1" lang="en" sz="1000"/>
              <a:t>Add confidence scoring</a:t>
            </a:r>
            <a:r>
              <a:rPr lang="en" sz="1000"/>
              <a:t> → flag low-certainty answers in UI</a:t>
            </a:r>
            <a:endParaRPr sz="10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666666"/>
                </a:solidFill>
                <a:latin typeface="Inter"/>
                <a:ea typeface="Inter"/>
                <a:cs typeface="Inter"/>
                <a:sym typeface="Inter"/>
              </a:rPr>
              <a:t>Medium-term ([Timeframe : Next month]):</a:t>
            </a:r>
            <a:endParaRPr b="1" sz="1000">
              <a:solidFill>
                <a:srgbClr val="666666"/>
              </a:solidFill>
              <a:latin typeface="Inter"/>
              <a:ea typeface="Inter"/>
              <a:cs typeface="Inter"/>
              <a:sym typeface="Inter"/>
            </a:endParaRPr>
          </a:p>
          <a:p>
            <a:pPr indent="-292100" lvl="0" marL="457200" rtl="0" algn="l">
              <a:lnSpc>
                <a:spcPct val="115000"/>
              </a:lnSpc>
              <a:spcBef>
                <a:spcPts val="1200"/>
              </a:spcBef>
              <a:spcAft>
                <a:spcPts val="0"/>
              </a:spcAft>
              <a:buClr>
                <a:srgbClr val="666666"/>
              </a:buClr>
              <a:buSzPts val="1000"/>
              <a:buFont typeface="Inter"/>
              <a:buChar char="●"/>
            </a:pPr>
            <a:r>
              <a:rPr b="1" lang="en" sz="1000"/>
              <a:t>Introduce OCR pipeline (Tesseract/DocTR)</a:t>
            </a:r>
            <a:r>
              <a:rPr lang="en" sz="1000"/>
              <a:t> → support scanned PDFs</a:t>
            </a:r>
            <a:endParaRPr sz="1000"/>
          </a:p>
          <a:p>
            <a:pPr indent="-292100" lvl="0" marL="457200" rtl="0" algn="l">
              <a:lnSpc>
                <a:spcPct val="115000"/>
              </a:lnSpc>
              <a:spcBef>
                <a:spcPts val="0"/>
              </a:spcBef>
              <a:spcAft>
                <a:spcPts val="0"/>
              </a:spcAft>
              <a:buClr>
                <a:srgbClr val="666666"/>
              </a:buClr>
              <a:buSzPts val="1000"/>
              <a:buFont typeface="Inter"/>
              <a:buChar char="●"/>
            </a:pPr>
            <a:r>
              <a:rPr b="1" lang="en" sz="1000"/>
              <a:t>Add query rewriting</a:t>
            </a:r>
            <a:r>
              <a:rPr lang="en" sz="1000"/>
              <a:t> → handle vague/ambiguous user queries</a:t>
            </a:r>
            <a:endParaRPr sz="1000"/>
          </a:p>
          <a:p>
            <a:pPr indent="-292100" lvl="0" marL="457200" rtl="0" algn="l">
              <a:lnSpc>
                <a:spcPct val="115000"/>
              </a:lnSpc>
              <a:spcBef>
                <a:spcPts val="0"/>
              </a:spcBef>
              <a:spcAft>
                <a:spcPts val="0"/>
              </a:spcAft>
              <a:buClr>
                <a:srgbClr val="666666"/>
              </a:buClr>
              <a:buSzPts val="1000"/>
              <a:buFont typeface="Inter"/>
              <a:buChar char="●"/>
            </a:pPr>
            <a:r>
              <a:rPr b="1" lang="en" sz="1000"/>
              <a:t>Set up evaluation harness</a:t>
            </a:r>
            <a:r>
              <a:rPr lang="en" sz="1000"/>
              <a:t> → track retrieval accuracy &amp; hallucinations</a:t>
            </a:r>
            <a:endParaRPr sz="1000">
              <a:solidFill>
                <a:srgbClr val="666666"/>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666666"/>
                </a:solidFill>
                <a:latin typeface="Inter"/>
                <a:ea typeface="Inter"/>
                <a:cs typeface="Inter"/>
                <a:sym typeface="Inter"/>
              </a:rPr>
              <a:t>Long-term Vision:</a:t>
            </a:r>
            <a:endParaRPr b="1" sz="1000">
              <a:solidFill>
                <a:srgbClr val="666666"/>
              </a:solidFill>
              <a:latin typeface="Inter"/>
              <a:ea typeface="Inter"/>
              <a:cs typeface="Inter"/>
              <a:sym typeface="Inter"/>
            </a:endParaRPr>
          </a:p>
          <a:p>
            <a:pPr indent="-292100" lvl="0" marL="457200" rtl="0" algn="l">
              <a:lnSpc>
                <a:spcPct val="115000"/>
              </a:lnSpc>
              <a:spcBef>
                <a:spcPts val="1200"/>
              </a:spcBef>
              <a:spcAft>
                <a:spcPts val="0"/>
              </a:spcAft>
              <a:buClr>
                <a:srgbClr val="666666"/>
              </a:buClr>
              <a:buSzPts val="1000"/>
              <a:buFont typeface="Inter"/>
              <a:buChar char="●"/>
            </a:pPr>
            <a:r>
              <a:rPr b="1" lang="en" sz="1000"/>
              <a:t>Scale to 1,000+ PDFs with Milvus/Weaviate</a:t>
            </a:r>
            <a:endParaRPr b="1" sz="1000"/>
          </a:p>
          <a:p>
            <a:pPr indent="-292100" lvl="0" marL="457200" rtl="0" algn="l">
              <a:lnSpc>
                <a:spcPct val="115000"/>
              </a:lnSpc>
              <a:spcBef>
                <a:spcPts val="0"/>
              </a:spcBef>
              <a:spcAft>
                <a:spcPts val="0"/>
              </a:spcAft>
              <a:buClr>
                <a:srgbClr val="666666"/>
              </a:buClr>
              <a:buSzPts val="1000"/>
              <a:buFont typeface="Inter"/>
              <a:buChar char="●"/>
            </a:pPr>
            <a:r>
              <a:rPr b="1" lang="en" sz="1000"/>
              <a:t>Add agentic workflow</a:t>
            </a:r>
            <a:r>
              <a:rPr lang="en" sz="1000"/>
              <a:t> for reasoning over multi-step financial docs</a:t>
            </a:r>
            <a:endParaRPr sz="1000"/>
          </a:p>
          <a:p>
            <a:pPr indent="-292100" lvl="0" marL="457200" rtl="0" algn="l">
              <a:lnSpc>
                <a:spcPct val="115000"/>
              </a:lnSpc>
              <a:spcBef>
                <a:spcPts val="0"/>
              </a:spcBef>
              <a:spcAft>
                <a:spcPts val="0"/>
              </a:spcAft>
              <a:buClr>
                <a:srgbClr val="666666"/>
              </a:buClr>
              <a:buSzPts val="1000"/>
              <a:buFont typeface="Inter"/>
              <a:buChar char="●"/>
            </a:pPr>
            <a:r>
              <a:rPr b="1" lang="en" sz="1000"/>
              <a:t>Integrate with business systems</a:t>
            </a:r>
            <a:r>
              <a:rPr lang="en" sz="1000"/>
              <a:t> for automated document intelligence</a:t>
            </a:r>
            <a:endParaRPr sz="1000"/>
          </a:p>
          <a:p>
            <a:pPr indent="0" lvl="0" marL="457200" rtl="0" algn="l">
              <a:lnSpc>
                <a:spcPct val="115000"/>
              </a:lnSpc>
              <a:spcBef>
                <a:spcPts val="1200"/>
              </a:spcBef>
              <a:spcAft>
                <a:spcPts val="0"/>
              </a:spcAft>
              <a:buNone/>
            </a:pPr>
            <a:r>
              <a:t/>
            </a:r>
            <a:endParaRPr sz="1100">
              <a:solidFill>
                <a:srgbClr val="666666"/>
              </a:solidFill>
              <a:latin typeface="Inter"/>
              <a:ea typeface="Inter"/>
              <a:cs typeface="Inter"/>
              <a:sym typeface="Inter"/>
            </a:endParaRPr>
          </a:p>
          <a:p>
            <a:pPr indent="0" lvl="0" marL="0" rtl="0" algn="ctr">
              <a:lnSpc>
                <a:spcPct val="115000"/>
              </a:lnSpc>
              <a:spcBef>
                <a:spcPts val="1200"/>
              </a:spcBef>
              <a:spcAft>
                <a:spcPts val="1200"/>
              </a:spcAft>
              <a:buNone/>
            </a:pPr>
            <a:r>
              <a:t/>
            </a:r>
            <a:endParaRPr i="1" sz="1200">
              <a:solidFill>
                <a:schemeClr val="dk1"/>
              </a:solidFill>
              <a:latin typeface="Inter"/>
              <a:ea typeface="Inter"/>
              <a:cs typeface="Inter"/>
              <a:sym typeface="Inter"/>
            </a:endParaRPr>
          </a:p>
        </p:txBody>
      </p:sp>
      <p:sp>
        <p:nvSpPr>
          <p:cNvPr id="160" name="Google Shape;160;p20"/>
          <p:cNvSpPr txBox="1"/>
          <p:nvPr/>
        </p:nvSpPr>
        <p:spPr>
          <a:xfrm>
            <a:off x="288175" y="129200"/>
            <a:ext cx="5463000" cy="82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lang="en" sz="1700">
                <a:solidFill>
                  <a:srgbClr val="666666"/>
                </a:solidFill>
                <a:latin typeface="Inter"/>
                <a:ea typeface="Inter"/>
                <a:cs typeface="Inter"/>
                <a:sym typeface="Inter"/>
              </a:rPr>
              <a:t>Current Limitations &amp; Next Steps</a:t>
            </a:r>
            <a:endParaRPr sz="1700">
              <a:solidFill>
                <a:schemeClr val="dk2"/>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nvSpPr>
        <p:spPr>
          <a:xfrm>
            <a:off x="401450" y="165875"/>
            <a:ext cx="8537400" cy="490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None/>
            </a:pPr>
            <a:r>
              <a:rPr b="1" lang="en" sz="1700">
                <a:solidFill>
                  <a:srgbClr val="575757"/>
                </a:solidFill>
                <a:latin typeface="Inter"/>
                <a:ea typeface="Inter"/>
                <a:cs typeface="Inter"/>
                <a:sym typeface="Inter"/>
              </a:rPr>
              <a:t>Project Impact &amp; Learning Outcomes </a:t>
            </a:r>
            <a:endParaRPr b="1" sz="1700">
              <a:solidFill>
                <a:srgbClr val="575757"/>
              </a:solidFill>
              <a:latin typeface="Inter"/>
              <a:ea typeface="Inter"/>
              <a:cs typeface="Inter"/>
              <a:sym typeface="Inter"/>
            </a:endParaRPr>
          </a:p>
          <a:p>
            <a:pPr indent="0" lvl="0" marL="0" rtl="0" algn="l">
              <a:lnSpc>
                <a:spcPct val="90000"/>
              </a:lnSpc>
              <a:spcBef>
                <a:spcPts val="400"/>
              </a:spcBef>
              <a:spcAft>
                <a:spcPts val="0"/>
              </a:spcAft>
              <a:buNone/>
            </a:pPr>
            <a:r>
              <a:t/>
            </a:r>
            <a:endParaRPr i="1" sz="1000">
              <a:solidFill>
                <a:srgbClr val="575757"/>
              </a:solidFill>
              <a:latin typeface="Inter"/>
              <a:ea typeface="Inter"/>
              <a:cs typeface="Inter"/>
              <a:sym typeface="Inter"/>
            </a:endParaRPr>
          </a:p>
        </p:txBody>
      </p:sp>
      <p:sp>
        <p:nvSpPr>
          <p:cNvPr id="166" name="Google Shape;166;p21"/>
          <p:cNvSpPr txBox="1"/>
          <p:nvPr/>
        </p:nvSpPr>
        <p:spPr>
          <a:xfrm>
            <a:off x="347250" y="573100"/>
            <a:ext cx="8449500" cy="43581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1800"/>
              </a:spcBef>
              <a:spcAft>
                <a:spcPts val="0"/>
              </a:spcAft>
              <a:buNone/>
            </a:pPr>
            <a:r>
              <a:rPr b="1" lang="en" sz="1000"/>
              <a:t>🧪 Key Technical Learnings</a:t>
            </a:r>
            <a:endParaRPr b="1" sz="1000"/>
          </a:p>
          <a:p>
            <a:pPr indent="-292100" lvl="0" marL="457200" rtl="0" algn="l">
              <a:lnSpc>
                <a:spcPct val="100000"/>
              </a:lnSpc>
              <a:spcBef>
                <a:spcPts val="1200"/>
              </a:spcBef>
              <a:spcAft>
                <a:spcPts val="0"/>
              </a:spcAft>
              <a:buSzPts val="1000"/>
              <a:buChar char="●"/>
            </a:pPr>
            <a:r>
              <a:rPr b="1" lang="en" sz="1000"/>
              <a:t>Understanding RAG End-to-End:</a:t>
            </a:r>
            <a:br>
              <a:rPr b="1" lang="en" sz="1000"/>
            </a:br>
            <a:r>
              <a:rPr lang="en" sz="1000"/>
              <a:t> Learned how retrieval + LLMs work together, and why good chunking and embeddings matter for accurate answers.</a:t>
            </a:r>
            <a:endParaRPr sz="1000"/>
          </a:p>
          <a:p>
            <a:pPr indent="-292100" lvl="0" marL="457200" rtl="0" algn="l">
              <a:lnSpc>
                <a:spcPct val="100000"/>
              </a:lnSpc>
              <a:spcBef>
                <a:spcPts val="0"/>
              </a:spcBef>
              <a:spcAft>
                <a:spcPts val="0"/>
              </a:spcAft>
              <a:buSzPts val="1000"/>
              <a:buChar char="●"/>
            </a:pPr>
            <a:r>
              <a:rPr b="1" lang="en" sz="1000"/>
              <a:t>Hands-on with Core Tools:</a:t>
            </a:r>
            <a:br>
              <a:rPr b="1" lang="en" sz="1000"/>
            </a:br>
            <a:r>
              <a:rPr lang="en" sz="1000"/>
              <a:t> Worked with </a:t>
            </a:r>
            <a:r>
              <a:rPr b="1" lang="en" sz="1000"/>
              <a:t>PyMuPDF</a:t>
            </a:r>
            <a:r>
              <a:rPr lang="en" sz="1000"/>
              <a:t>, </a:t>
            </a:r>
            <a:r>
              <a:rPr b="1" lang="en" sz="1000"/>
              <a:t>SentenceTransformers</a:t>
            </a:r>
            <a:r>
              <a:rPr lang="en" sz="1000"/>
              <a:t>, </a:t>
            </a:r>
            <a:r>
              <a:rPr b="1" lang="en" sz="1000"/>
              <a:t>FAISS</a:t>
            </a:r>
            <a:r>
              <a:rPr lang="en" sz="1000"/>
              <a:t>, and </a:t>
            </a:r>
            <a:r>
              <a:rPr b="1" lang="en" sz="1000"/>
              <a:t>Groq Llama 3</a:t>
            </a:r>
            <a:r>
              <a:rPr lang="en" sz="1000"/>
              <a:t>, gaining confidence in building a real RAG pipeline from scratch.</a:t>
            </a:r>
            <a:endParaRPr sz="1000"/>
          </a:p>
          <a:p>
            <a:pPr indent="-298450" lvl="0" marL="457200" rtl="0" algn="l">
              <a:lnSpc>
                <a:spcPct val="100000"/>
              </a:lnSpc>
              <a:spcBef>
                <a:spcPts val="0"/>
              </a:spcBef>
              <a:spcAft>
                <a:spcPts val="0"/>
              </a:spcAft>
              <a:buSzPts val="1100"/>
              <a:buChar char="●"/>
            </a:pPr>
            <a:r>
              <a:rPr b="1" lang="en" sz="1000"/>
              <a:t>Solving Practical Challenges:</a:t>
            </a:r>
            <a:br>
              <a:rPr b="1" lang="en" sz="1000"/>
            </a:br>
            <a:r>
              <a:rPr lang="en" sz="1000"/>
              <a:t> Dealt with issues like noisy retrieval, chunk overlap decisions, multi-document routing, and designing prompts to avoid hallucinations.</a:t>
            </a:r>
            <a:endParaRPr sz="1000"/>
          </a:p>
          <a:p>
            <a:pPr indent="0" lvl="0" marL="0" rtl="0" algn="l">
              <a:lnSpc>
                <a:spcPct val="100000"/>
              </a:lnSpc>
              <a:spcBef>
                <a:spcPts val="1800"/>
              </a:spcBef>
              <a:spcAft>
                <a:spcPts val="0"/>
              </a:spcAft>
              <a:buNone/>
            </a:pPr>
            <a:r>
              <a:rPr b="1" lang="en" sz="1000"/>
              <a:t>💊 Business Impact Potential</a:t>
            </a:r>
            <a:endParaRPr b="1" sz="1000"/>
          </a:p>
          <a:p>
            <a:pPr indent="-292100" lvl="0" marL="457200" rtl="0" algn="l">
              <a:lnSpc>
                <a:spcPct val="100000"/>
              </a:lnSpc>
              <a:spcBef>
                <a:spcPts val="1200"/>
              </a:spcBef>
              <a:spcAft>
                <a:spcPts val="0"/>
              </a:spcAft>
              <a:buSzPts val="1000"/>
              <a:buChar char="●"/>
            </a:pPr>
            <a:r>
              <a:rPr b="1" lang="en" sz="1000"/>
              <a:t>Efficiency Gains:</a:t>
            </a:r>
            <a:br>
              <a:rPr b="1" lang="en" sz="1000"/>
            </a:br>
            <a:r>
              <a:rPr lang="en" sz="1000"/>
              <a:t> A system like this can reduce </a:t>
            </a:r>
            <a:r>
              <a:rPr b="1" lang="en" sz="1000"/>
              <a:t>manual document review time by 60–80%</a:t>
            </a:r>
            <a:r>
              <a:rPr lang="en" sz="1000"/>
              <a:t>, especially for financial or HR PDFs.</a:t>
            </a:r>
            <a:endParaRPr sz="1000"/>
          </a:p>
          <a:p>
            <a:pPr indent="-292100" lvl="0" marL="457200" rtl="0" algn="l">
              <a:lnSpc>
                <a:spcPct val="100000"/>
              </a:lnSpc>
              <a:spcBef>
                <a:spcPts val="0"/>
              </a:spcBef>
              <a:spcAft>
                <a:spcPts val="0"/>
              </a:spcAft>
              <a:buSzPts val="1000"/>
              <a:buChar char="●"/>
            </a:pPr>
            <a:r>
              <a:rPr b="1" lang="en" sz="1000"/>
              <a:t>Accuracy Improvement</a:t>
            </a:r>
            <a:r>
              <a:rPr b="1" lang="en" sz="1000"/>
              <a:t>:</a:t>
            </a:r>
            <a:br>
              <a:rPr b="1" lang="en" sz="1000"/>
            </a:br>
            <a:r>
              <a:rPr lang="en" sz="1000"/>
              <a:t> Hybrid retrieval improves precision vs. keyword search, leading to </a:t>
            </a:r>
            <a:r>
              <a:rPr b="1" lang="en" sz="1000"/>
              <a:t>more reliable answers</a:t>
            </a:r>
            <a:r>
              <a:rPr lang="en" sz="1000"/>
              <a:t> for fee sheets, resumes, and payslips.</a:t>
            </a:r>
            <a:endParaRPr sz="1000"/>
          </a:p>
          <a:p>
            <a:pPr indent="-292100" lvl="0" marL="457200" rtl="0" algn="l">
              <a:lnSpc>
                <a:spcPct val="100000"/>
              </a:lnSpc>
              <a:spcBef>
                <a:spcPts val="0"/>
              </a:spcBef>
              <a:spcAft>
                <a:spcPts val="0"/>
              </a:spcAft>
              <a:buSzPts val="1000"/>
              <a:buChar char="●"/>
            </a:pPr>
            <a:r>
              <a:rPr b="1" lang="en" sz="1000"/>
              <a:t>Scalability:</a:t>
            </a:r>
            <a:br>
              <a:rPr b="1" lang="en" sz="1000"/>
            </a:br>
            <a:r>
              <a:rPr lang="en" sz="1000"/>
              <a:t> The approach can extend to thousands of PDFs and be integrated into real workflows like underwriting, compliance checks, or HR automation.</a:t>
            </a:r>
            <a:endParaRPr sz="1000"/>
          </a:p>
          <a:p>
            <a:pPr indent="0" lvl="0" marL="0" rtl="0" algn="l">
              <a:lnSpc>
                <a:spcPct val="100000"/>
              </a:lnSpc>
              <a:spcBef>
                <a:spcPts val="1200"/>
              </a:spcBef>
              <a:spcAft>
                <a:spcPts val="0"/>
              </a:spcAft>
              <a:buNone/>
            </a:pPr>
            <a:r>
              <a:rPr lang="en" sz="1000"/>
              <a:t>🧑‍🎓 </a:t>
            </a:r>
            <a:r>
              <a:rPr b="1" lang="en" sz="1000"/>
              <a:t>Skills Developed</a:t>
            </a:r>
            <a:endParaRPr sz="1000"/>
          </a:p>
          <a:p>
            <a:pPr indent="-298450" lvl="0" marL="457200" marR="0" rtl="0" algn="l">
              <a:lnSpc>
                <a:spcPct val="100000"/>
              </a:lnSpc>
              <a:spcBef>
                <a:spcPts val="1200"/>
              </a:spcBef>
              <a:spcAft>
                <a:spcPts val="0"/>
              </a:spcAft>
              <a:buClr>
                <a:srgbClr val="575757"/>
              </a:buClr>
              <a:buSzPts val="1100"/>
              <a:buFont typeface="Inter"/>
              <a:buChar char="●"/>
            </a:pPr>
            <a:r>
              <a:rPr lang="en" sz="1100">
                <a:solidFill>
                  <a:srgbClr val="575757"/>
                </a:solidFill>
                <a:latin typeface="Inter"/>
                <a:ea typeface="Inter"/>
                <a:cs typeface="Inter"/>
                <a:sym typeface="Inter"/>
              </a:rPr>
              <a:t> </a:t>
            </a:r>
            <a:r>
              <a:rPr b="1" lang="en" sz="1000">
                <a:solidFill>
                  <a:schemeClr val="dk2"/>
                </a:solidFill>
                <a:latin typeface="Inter"/>
                <a:ea typeface="Inter"/>
                <a:cs typeface="Inter"/>
                <a:sym typeface="Inter"/>
              </a:rPr>
              <a:t>Technical skills       : </a:t>
            </a:r>
            <a:r>
              <a:rPr lang="en" sz="1000">
                <a:solidFill>
                  <a:schemeClr val="dk2"/>
                </a:solidFill>
                <a:latin typeface="Inter"/>
                <a:ea typeface="Inter"/>
                <a:cs typeface="Inter"/>
                <a:sym typeface="Inter"/>
              </a:rPr>
              <a:t>RAG Pipeline(chunking, embedding, vector search), Hybrid Retrieval, FAISS, PyMuPDF, Prompting + LLM</a:t>
            </a:r>
            <a:endParaRPr sz="1000">
              <a:solidFill>
                <a:schemeClr val="dk2"/>
              </a:solidFill>
              <a:latin typeface="Inter"/>
              <a:ea typeface="Inter"/>
              <a:cs typeface="Inter"/>
              <a:sym typeface="Inter"/>
            </a:endParaRPr>
          </a:p>
          <a:p>
            <a:pPr indent="-292100" lvl="0" marL="457200" marR="0" rtl="0" algn="l">
              <a:lnSpc>
                <a:spcPct val="100000"/>
              </a:lnSpc>
              <a:spcBef>
                <a:spcPts val="0"/>
              </a:spcBef>
              <a:spcAft>
                <a:spcPts val="0"/>
              </a:spcAft>
              <a:buClr>
                <a:schemeClr val="dk2"/>
              </a:buClr>
              <a:buSzPts val="1000"/>
              <a:buFont typeface="Inter"/>
              <a:buChar char="●"/>
            </a:pPr>
            <a:r>
              <a:rPr lang="en" sz="1000">
                <a:solidFill>
                  <a:schemeClr val="dk2"/>
                </a:solidFill>
                <a:latin typeface="Inter"/>
                <a:ea typeface="Inter"/>
                <a:cs typeface="Inter"/>
                <a:sym typeface="Inter"/>
              </a:rPr>
              <a:t> </a:t>
            </a:r>
            <a:r>
              <a:rPr b="1" lang="en" sz="1000">
                <a:solidFill>
                  <a:schemeClr val="dk2"/>
                </a:solidFill>
                <a:latin typeface="Inter"/>
                <a:ea typeface="Inter"/>
                <a:cs typeface="Inter"/>
                <a:sym typeface="Inter"/>
              </a:rPr>
              <a:t>Engineering skills  : </a:t>
            </a:r>
            <a:r>
              <a:rPr lang="en" sz="1000">
                <a:solidFill>
                  <a:schemeClr val="dk2"/>
                </a:solidFill>
                <a:latin typeface="Inter"/>
                <a:ea typeface="Inter"/>
                <a:cs typeface="Inter"/>
                <a:sym typeface="Inter"/>
              </a:rPr>
              <a:t>Debugging retrieval issues, Metadata filtering</a:t>
            </a:r>
            <a:endParaRPr sz="1000">
              <a:solidFill>
                <a:schemeClr val="dk2"/>
              </a:solidFill>
              <a:latin typeface="Inter"/>
              <a:ea typeface="Inter"/>
              <a:cs typeface="Inter"/>
              <a:sym typeface="Inter"/>
            </a:endParaRPr>
          </a:p>
          <a:p>
            <a:pPr indent="-292100" lvl="0" marL="457200" marR="0" rtl="0" algn="l">
              <a:lnSpc>
                <a:spcPct val="100000"/>
              </a:lnSpc>
              <a:spcBef>
                <a:spcPts val="0"/>
              </a:spcBef>
              <a:spcAft>
                <a:spcPts val="0"/>
              </a:spcAft>
              <a:buClr>
                <a:schemeClr val="dk2"/>
              </a:buClr>
              <a:buSzPts val="1000"/>
              <a:buFont typeface="Inter"/>
              <a:buChar char="●"/>
            </a:pPr>
            <a:r>
              <a:rPr b="1" lang="en" sz="1000">
                <a:solidFill>
                  <a:schemeClr val="dk2"/>
                </a:solidFill>
                <a:latin typeface="Inter"/>
                <a:ea typeface="Inter"/>
                <a:cs typeface="Inter"/>
                <a:sym typeface="Inter"/>
              </a:rPr>
              <a:t> Soft skills                   : </a:t>
            </a:r>
            <a:r>
              <a:rPr lang="en" sz="1000">
                <a:solidFill>
                  <a:schemeClr val="dk2"/>
                </a:solidFill>
                <a:latin typeface="Inter"/>
                <a:ea typeface="Inter"/>
                <a:cs typeface="Inter"/>
                <a:sym typeface="Inter"/>
              </a:rPr>
              <a:t>Problem-solving and experimentation, Managing an ML project end-to-end, Reading &amp; applying technical documentation</a:t>
            </a:r>
            <a:br>
              <a:rPr b="1" lang="en" sz="1000">
                <a:solidFill>
                  <a:schemeClr val="dk2"/>
                </a:solidFill>
                <a:latin typeface="Inter"/>
                <a:ea typeface="Inter"/>
                <a:cs typeface="Inter"/>
                <a:sym typeface="Inter"/>
              </a:rPr>
            </a:br>
            <a:r>
              <a:rPr b="1" lang="en" sz="1000">
                <a:solidFill>
                  <a:schemeClr val="dk2"/>
                </a:solidFill>
                <a:latin typeface="Inter"/>
                <a:ea typeface="Inter"/>
                <a:cs typeface="Inter"/>
                <a:sym typeface="Inter"/>
              </a:rPr>
              <a:t> </a:t>
            </a:r>
            <a:endParaRPr sz="1000">
              <a:solidFill>
                <a:schemeClr val="dk2"/>
              </a:solidFill>
              <a:latin typeface="Inter"/>
              <a:ea typeface="Inter"/>
              <a:cs typeface="Inter"/>
              <a:sym typeface="Inter"/>
            </a:endParaRPr>
          </a:p>
          <a:p>
            <a:pPr indent="0" lvl="0" marL="0" marR="0" rtl="0" algn="l">
              <a:lnSpc>
                <a:spcPct val="100000"/>
              </a:lnSpc>
              <a:spcBef>
                <a:spcPts val="0"/>
              </a:spcBef>
              <a:spcAft>
                <a:spcPts val="0"/>
              </a:spcAft>
              <a:buNone/>
            </a:pPr>
            <a:r>
              <a:t/>
            </a:r>
            <a:endParaRPr b="1" sz="1100">
              <a:solidFill>
                <a:srgbClr val="575757"/>
              </a:solidFill>
              <a:latin typeface="Inter"/>
              <a:ea typeface="Inter"/>
              <a:cs typeface="Inter"/>
              <a:sym typeface="Inter"/>
            </a:endParaRPr>
          </a:p>
          <a:p>
            <a:pPr indent="0" lvl="0" marL="0" marR="0" rtl="0" algn="l">
              <a:lnSpc>
                <a:spcPct val="100000"/>
              </a:lnSpc>
              <a:spcBef>
                <a:spcPts val="0"/>
              </a:spcBef>
              <a:spcAft>
                <a:spcPts val="0"/>
              </a:spcAft>
              <a:buNone/>
            </a:pPr>
            <a:r>
              <a:t/>
            </a:r>
            <a:endParaRPr sz="1100">
              <a:solidFill>
                <a:srgbClr val="575757"/>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FFD"/>
        </a:solidFill>
      </p:bgPr>
    </p:bg>
    <p:spTree>
      <p:nvGrpSpPr>
        <p:cNvPr id="170" name="Shape 170"/>
        <p:cNvGrpSpPr/>
        <p:nvPr/>
      </p:nvGrpSpPr>
      <p:grpSpPr>
        <a:xfrm>
          <a:off x="0" y="0"/>
          <a:ext cx="0" cy="0"/>
          <a:chOff x="0" y="0"/>
          <a:chExt cx="0" cy="0"/>
        </a:xfrm>
      </p:grpSpPr>
      <p:sp>
        <p:nvSpPr>
          <p:cNvPr id="171" name="Google Shape;171;p22"/>
          <p:cNvSpPr txBox="1"/>
          <p:nvPr/>
        </p:nvSpPr>
        <p:spPr>
          <a:xfrm>
            <a:off x="354375" y="2152575"/>
            <a:ext cx="8334600" cy="1920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3800">
                <a:solidFill>
                  <a:schemeClr val="dk2"/>
                </a:solidFill>
                <a:latin typeface="Trebuchet MS"/>
                <a:ea typeface="Trebuchet MS"/>
                <a:cs typeface="Trebuchet MS"/>
                <a:sym typeface="Trebuchet MS"/>
              </a:rPr>
              <a:t>Thank you</a:t>
            </a:r>
            <a:endParaRPr sz="3800">
              <a:solidFill>
                <a:schemeClr val="dk2"/>
              </a:solidFill>
              <a:latin typeface="Trebuchet MS"/>
              <a:ea typeface="Trebuchet MS"/>
              <a:cs typeface="Trebuchet MS"/>
              <a:sym typeface="Trebuchet MS"/>
            </a:endParaRPr>
          </a:p>
          <a:p>
            <a:pPr indent="0" lvl="0" marL="0" rtl="0" algn="l">
              <a:lnSpc>
                <a:spcPct val="90000"/>
              </a:lnSpc>
              <a:spcBef>
                <a:spcPts val="0"/>
              </a:spcBef>
              <a:spcAft>
                <a:spcPts val="0"/>
              </a:spcAft>
              <a:buNone/>
            </a:pPr>
            <a:r>
              <a:t/>
            </a:r>
            <a:endParaRPr sz="3800">
              <a:solidFill>
                <a:srgbClr val="FFFFFF"/>
              </a:solidFill>
              <a:latin typeface="Trebuchet MS"/>
              <a:ea typeface="Trebuchet MS"/>
              <a:cs typeface="Trebuchet MS"/>
              <a:sym typeface="Trebuchet MS"/>
            </a:endParaRPr>
          </a:p>
          <a:p>
            <a:pPr indent="0" lvl="0" marL="0" rtl="0" algn="l">
              <a:lnSpc>
                <a:spcPct val="90000"/>
              </a:lnSpc>
              <a:spcBef>
                <a:spcPts val="0"/>
              </a:spcBef>
              <a:spcAft>
                <a:spcPts val="0"/>
              </a:spcAft>
              <a:buNone/>
            </a:pPr>
            <a:r>
              <a:t/>
            </a:r>
            <a:endParaRPr sz="3800">
              <a:solidFill>
                <a:srgbClr val="FFFFFF"/>
              </a:solidFill>
              <a:latin typeface="Trebuchet MS"/>
              <a:ea typeface="Trebuchet MS"/>
              <a:cs typeface="Trebuchet MS"/>
              <a:sym typeface="Trebuchet MS"/>
            </a:endParaRPr>
          </a:p>
        </p:txBody>
      </p:sp>
      <p:cxnSp>
        <p:nvCxnSpPr>
          <p:cNvPr id="172" name="Google Shape;172;p22"/>
          <p:cNvCxnSpPr/>
          <p:nvPr/>
        </p:nvCxnSpPr>
        <p:spPr>
          <a:xfrm>
            <a:off x="337650" y="2776875"/>
            <a:ext cx="8300400" cy="303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